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c343655f2c47a4" /><Relationship Type="http://schemas.openxmlformats.org/officeDocument/2006/relationships/extended-properties" Target="/docProps/app.xml" Id="R134017c8b72a40fc" /><Relationship Type="http://schemas.openxmlformats.org/officeDocument/2006/relationships/officeDocument" Target="/ppt/presentation.xml" Id="Rfd56301c7c074c8c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3afa1a1c16f4460"/>
  </p:sldMasterIdLst>
  <p:notesMasterIdLst>
    <p:notesMasterId xmlns:r="http://schemas.openxmlformats.org/officeDocument/2006/relationships" r:id="R6a5c5dc99c8f4b3f"/>
  </p:notesMasterIdLst>
  <p:sldIdLst>
    <p:sldId xmlns:r="http://schemas.openxmlformats.org/officeDocument/2006/relationships" id="256" r:id="Racb096504a184fc2"/>
    <p:sldId xmlns:r="http://schemas.openxmlformats.org/officeDocument/2006/relationships" id="257" r:id="Raec41fe4ccb94c16"/>
    <p:sldId xmlns:r="http://schemas.openxmlformats.org/officeDocument/2006/relationships" id="258" r:id="R1cb8cb1ece5a46a2"/>
    <p:sldId xmlns:r="http://schemas.openxmlformats.org/officeDocument/2006/relationships" id="259" r:id="Rbda01a993eba4405"/>
    <p:sldId xmlns:r="http://schemas.openxmlformats.org/officeDocument/2006/relationships" id="260" r:id="R1be673bcf7dc4870"/>
    <p:sldId xmlns:r="http://schemas.openxmlformats.org/officeDocument/2006/relationships" id="261" r:id="R996772b51dae4852"/>
    <p:sldId xmlns:r="http://schemas.openxmlformats.org/officeDocument/2006/relationships" id="262" r:id="R6b8e87ef99c94a36"/>
    <p:sldId xmlns:r="http://schemas.openxmlformats.org/officeDocument/2006/relationships" id="263" r:id="R8d95c116340e43a7"/>
    <p:sldId xmlns:r="http://schemas.openxmlformats.org/officeDocument/2006/relationships" id="264" r:id="Re34fd53b14e346d3"/>
    <p:sldId xmlns:r="http://schemas.openxmlformats.org/officeDocument/2006/relationships" id="265" r:id="R061a36a27989481c"/>
    <p:sldId xmlns:r="http://schemas.openxmlformats.org/officeDocument/2006/relationships" id="266" r:id="R9485df6929b6445d"/>
    <p:sldId xmlns:r="http://schemas.openxmlformats.org/officeDocument/2006/relationships" id="267" r:id="Rc42cd2c356a14f74"/>
  </p:sldIdLst>
  <p:sldSz cx="18288000" cy="10287000"/>
  <p:notesSz cx="6858000" cy="9144000"/>
  <p:embeddedFontLst>
    <p:embeddedFont>
      <p:font typeface="Arial Bold"/>
      <p:regular xmlns:r="http://schemas.openxmlformats.org/officeDocument/2006/relationships" r:id="Rffb5c4756e704e7c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b04c192c6104189" /><Relationship Type="http://schemas.openxmlformats.org/officeDocument/2006/relationships/slideMaster" Target="/ppt/slideMasters/slideMaster1.xml" Id="R33afa1a1c16f4460" /><Relationship Type="http://schemas.openxmlformats.org/officeDocument/2006/relationships/notesMaster" Target="/ppt/notesMasters/notesMaster1.xml" Id="R6a5c5dc99c8f4b3f" /><Relationship Type="http://schemas.openxmlformats.org/officeDocument/2006/relationships/presProps" Target="/ppt/presProps.xml" Id="R680e9029b2044aa4" /><Relationship Type="http://schemas.openxmlformats.org/officeDocument/2006/relationships/viewProps" Target="/ppt/viewProps.xml" Id="R3b96dd22d07e4f0e" /><Relationship Type="http://schemas.openxmlformats.org/officeDocument/2006/relationships/tableStyles" Target="/ppt/tableStyles.xml" Id="Rd8aacddc736f4573" /><Relationship Type="http://schemas.openxmlformats.org/officeDocument/2006/relationships/font" Target="/ppt/fonts/font.dat" Id="Rffb5c4756e704e7c" /><Relationship Type="http://schemas.openxmlformats.org/officeDocument/2006/relationships/slide" Target="/ppt/slides/slide1.xml" Id="Racb096504a184fc2" /><Relationship Type="http://schemas.openxmlformats.org/officeDocument/2006/relationships/slide" Target="/ppt/slides/slide2.xml" Id="Raec41fe4ccb94c16" /><Relationship Type="http://schemas.openxmlformats.org/officeDocument/2006/relationships/slide" Target="/ppt/slides/slide3.xml" Id="R1cb8cb1ece5a46a2" /><Relationship Type="http://schemas.openxmlformats.org/officeDocument/2006/relationships/slide" Target="/ppt/slides/slide4.xml" Id="Rbda01a993eba4405" /><Relationship Type="http://schemas.openxmlformats.org/officeDocument/2006/relationships/slide" Target="/ppt/slides/slide5.xml" Id="R1be673bcf7dc4870" /><Relationship Type="http://schemas.openxmlformats.org/officeDocument/2006/relationships/slide" Target="/ppt/slides/slide6.xml" Id="R996772b51dae4852" /><Relationship Type="http://schemas.openxmlformats.org/officeDocument/2006/relationships/slide" Target="/ppt/slides/slide7.xml" Id="R6b8e87ef99c94a36" /><Relationship Type="http://schemas.openxmlformats.org/officeDocument/2006/relationships/slide" Target="/ppt/slides/slide8.xml" Id="R8d95c116340e43a7" /><Relationship Type="http://schemas.openxmlformats.org/officeDocument/2006/relationships/slide" Target="/ppt/slides/slide9.xml" Id="Re34fd53b14e346d3" /><Relationship Type="http://schemas.openxmlformats.org/officeDocument/2006/relationships/slide" Target="/ppt/slides/slide10.xml" Id="R061a36a27989481c" /><Relationship Type="http://schemas.openxmlformats.org/officeDocument/2006/relationships/slide" Target="/ppt/slides/slide11.xml" Id="R9485df6929b6445d" /><Relationship Type="http://schemas.openxmlformats.org/officeDocument/2006/relationships/slide" Target="/ppt/slides/slide12.xml" Id="Rc42cd2c356a14f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b065e555354a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89be63f9084828" /><Relationship Type="http://schemas.openxmlformats.org/officeDocument/2006/relationships/notesMaster" Target="/ppt/notesMasters/notesMaster1.xml" Id="R818416297c604e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af805bdca4efe" /><Relationship Type="http://schemas.openxmlformats.org/officeDocument/2006/relationships/notesMaster" Target="/ppt/notesMasters/notesMaster1.xml" Id="R9d64e9209ce344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49f45417864d4c" /><Relationship Type="http://schemas.openxmlformats.org/officeDocument/2006/relationships/notesMaster" Target="/ppt/notesMasters/notesMaster1.xml" Id="Re3fa87d2046143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ce71cefa1244a3" /><Relationship Type="http://schemas.openxmlformats.org/officeDocument/2006/relationships/notesMaster" Target="/ppt/notesMasters/notesMaster1.xml" Id="Rb2de8761c8024f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06f140377144a7" /><Relationship Type="http://schemas.openxmlformats.org/officeDocument/2006/relationships/notesMaster" Target="/ppt/notesMasters/notesMaster1.xml" Id="Rec793f9e028e4b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307f18ee934556" /><Relationship Type="http://schemas.openxmlformats.org/officeDocument/2006/relationships/notesMaster" Target="/ppt/notesMasters/notesMaster1.xml" Id="R9697fa09dc6d47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194bedd5e04559" /><Relationship Type="http://schemas.openxmlformats.org/officeDocument/2006/relationships/notesMaster" Target="/ppt/notesMasters/notesMaster1.xml" Id="R8dd37a8f8cae4e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b919e2ea9844d4" /><Relationship Type="http://schemas.openxmlformats.org/officeDocument/2006/relationships/notesMaster" Target="/ppt/notesMasters/notesMaster1.xml" Id="Rd81a6ff93bec4b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bc23a130b2c4fe5" /><Relationship Type="http://schemas.openxmlformats.org/officeDocument/2006/relationships/notesMaster" Target="/ppt/notesMasters/notesMaster1.xml" Id="R40adf300ab0849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8ef5ccf9da4e46" /><Relationship Type="http://schemas.openxmlformats.org/officeDocument/2006/relationships/notesMaster" Target="/ppt/notesMasters/notesMaster1.xml" Id="R19395ac36929409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011cc7b4834248" /><Relationship Type="http://schemas.openxmlformats.org/officeDocument/2006/relationships/notesMaster" Target="/ppt/notesMasters/notesMaster1.xml" Id="R5537e196d21346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44120479e54ec4" /><Relationship Type="http://schemas.openxmlformats.org/officeDocument/2006/relationships/notesMaster" Target="/ppt/notesMasters/notesMaster1.xml" Id="R889215a8a5d34d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43a3ccb854f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9b8decdff4d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5fb7361cb4f1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10ec2e2bc944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f77e81903c449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a766395dc44e9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8c5bcd763147e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bd298dd8244b0b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51d981c39c4b1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1416deb1374d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ca0f6343734461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16D394-A5D9-4946-8029-EDFE18BCF4C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71EBE6E-2FA7-4412-A404-BE25805ECC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5C7574E-DDDE-4B17-B88B-11EAEA025E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F96A110-5F53-43E3-95FC-F9AAE25D0F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FE24F13-738C-4DE9-8849-A4BC13178B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E0C93BC-B0BC-4315-9B28-5799FF9CE9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48C6F37-2ED2-43C6-B18A-30FBEE644CB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C91B27-5D1B-4F85-BF3D-61F40AAEDD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5A537FD-B03F-4642-B0D0-41644AD423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7D52867-66D6-4ADC-8214-A419DB563D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C5716A1-66DF-493A-93D1-3ECEC2F6CE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A59BD20-854D-4ADE-894E-069FC7A25C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45F7FC5-7F8C-47C4-811F-85889DB471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D6491D-544F-4FC3-B8F1-CA13EC084A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3D5EAE-4C39-4B28-9F37-4033EDD47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683670-D0DD-4713-B16B-DE38D27FF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1CA670B-82F5-44DF-99CA-FD3DC56FE4B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0BFE517-BBCB-4754-B605-4A0ABF2FE4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48C20DC-CDF4-4221-B6B3-A01E342404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6C2A91B-760D-41BD-B6DA-AFB3B404AD8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11A1420-1D40-462D-8E12-80EA78AD59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5114B3B-A9C1-4012-8C8C-FF65C5E6E1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D9E1FE-98C6-403D-AE53-9E43BE6FFE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7036CB8-AC1D-4E3C-ADA1-1AFE5576804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A2317C8-8ABC-49D4-AEBF-51320C1B49C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0F9B4B1E-FDFB-49DB-B97F-82274C12569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40525D3-5FBA-4C64-8D76-DC1E83B330C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0C0DCF4-48D7-46F7-A5E7-CDFCA49327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38033D9-2486-4E6B-B120-B0FB1C246F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FD1D9B1-29F3-45D3-8722-39DF2ADF72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8714EA0-B91B-4136-A9FA-3C54D0B9DB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E6B1DCC-1B40-466A-A652-AE3A141D770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97A8B9-A89C-4071-B54D-275E6B2FA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663C2B9-6B44-417D-A39F-AA7BDB1661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D3575C4-9B40-40FD-BAC9-F054AAF112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95A4188-AD5C-4449-890B-F09EF10716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C8FDED-A049-4712-90EC-86E35D3815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A22055E-44F8-4042-B9F9-FD719443DD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B7C63B6-4902-4B4E-A718-723C72211B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F9F150C-838D-450E-BA63-DCAB9AF3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E71566B-E900-4B4D-9E48-E3FD44685B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887C75-19C9-4F7E-A8A5-229960C1450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E86FD1-AA2A-41BE-AEE0-290E041820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1704DE3-950A-444A-B2D4-E8652070749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CBDDBE6-8D8E-4FD3-9F39-B20AAE77543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C0C74A2-E74A-4F56-843A-993C626052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4DEB95A-525E-465A-A7F9-2885746C165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1D2381-2064-4726-8D96-3097410315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4E3BA5-7C2A-4D5F-AE65-1A344A23EB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2C177CC-3C73-47FD-BD01-8AAAB55896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E997A2-C218-4EF6-A570-CFFD6BAA37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F618FF-200F-4304-BFE2-35C6A82C16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FEE5BB5-2460-4D7B-9343-34BF3F1DF1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0BF46F5-964B-47D1-AE3B-0D0042776B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00F70C-526D-4FDC-AF0C-99F50A7F1D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AA8921-0ED5-4A62-A85F-341038FDEB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2DB699B-6368-4978-908A-DA559878B45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6044CCD-FFA3-4F2D-8490-FD19CA8E19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17c43ace8e4475" /><Relationship Type="http://schemas.openxmlformats.org/officeDocument/2006/relationships/slideLayout" Target="/ppt/slideLayouts/slideLayout1.xml" Id="R29b50d27923446af" /><Relationship Type="http://schemas.openxmlformats.org/officeDocument/2006/relationships/slideLayout" Target="/ppt/slideLayouts/slideLayout2.xml" Id="R157bf32ea0ef4b63" /><Relationship Type="http://schemas.openxmlformats.org/officeDocument/2006/relationships/slideLayout" Target="/ppt/slideLayouts/slideLayout3.xml" Id="R6945edb0f46c4b40" /><Relationship Type="http://schemas.openxmlformats.org/officeDocument/2006/relationships/slideLayout" Target="/ppt/slideLayouts/slideLayout4.xml" Id="Raeed7acd002b453a" /><Relationship Type="http://schemas.openxmlformats.org/officeDocument/2006/relationships/slideLayout" Target="/ppt/slideLayouts/slideLayout5.xml" Id="Radd02873bac047d6" /><Relationship Type="http://schemas.openxmlformats.org/officeDocument/2006/relationships/slideLayout" Target="/ppt/slideLayouts/slideLayout6.xml" Id="Rd1ea17bb2f1c4e96" /><Relationship Type="http://schemas.openxmlformats.org/officeDocument/2006/relationships/slideLayout" Target="/ppt/slideLayouts/slideLayout7.xml" Id="R6d8b7111e94841b4" /><Relationship Type="http://schemas.openxmlformats.org/officeDocument/2006/relationships/slideLayout" Target="/ppt/slideLayouts/slideLayout8.xml" Id="R3118a075af81499d" /><Relationship Type="http://schemas.openxmlformats.org/officeDocument/2006/relationships/slideLayout" Target="/ppt/slideLayouts/slideLayout9.xml" Id="Re44192a804f248f2" /><Relationship Type="http://schemas.openxmlformats.org/officeDocument/2006/relationships/slideLayout" Target="/ppt/slideLayouts/slideLayout10.xml" Id="R2f0d80f97416424f" /><Relationship Type="http://schemas.openxmlformats.org/officeDocument/2006/relationships/slideLayout" Target="/ppt/slideLayouts/slideLayout11.xml" Id="Rd7db8d8cd38f442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CD627C0-12E3-4000-890D-542B67C4A9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82B87CC-D218-4AD2-972C-C91FE15634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19888A-26B8-4C6C-8288-44EB3CFB893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6/3/2026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C68B3B9-8DBB-4A31-8490-3B0CAD6627A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781938-EF60-4E4E-BA43-FC6F2026D17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b50d27923446af"/>
    <p:sldLayoutId xmlns:r="http://schemas.openxmlformats.org/officeDocument/2006/relationships" id="2147483650" r:id="R157bf32ea0ef4b63"/>
    <p:sldLayoutId xmlns:r="http://schemas.openxmlformats.org/officeDocument/2006/relationships" id="2147483651" r:id="R6945edb0f46c4b40"/>
    <p:sldLayoutId xmlns:r="http://schemas.openxmlformats.org/officeDocument/2006/relationships" id="2147483652" r:id="Raeed7acd002b453a"/>
    <p:sldLayoutId xmlns:r="http://schemas.openxmlformats.org/officeDocument/2006/relationships" id="2147483653" r:id="Radd02873bac047d6"/>
    <p:sldLayoutId xmlns:r="http://schemas.openxmlformats.org/officeDocument/2006/relationships" id="2147483654" r:id="Rd1ea17bb2f1c4e96"/>
    <p:sldLayoutId xmlns:r="http://schemas.openxmlformats.org/officeDocument/2006/relationships" id="2147483655" r:id="R6d8b7111e94841b4"/>
    <p:sldLayoutId xmlns:r="http://schemas.openxmlformats.org/officeDocument/2006/relationships" id="2147483656" r:id="R3118a075af81499d"/>
    <p:sldLayoutId xmlns:r="http://schemas.openxmlformats.org/officeDocument/2006/relationships" id="2147483657" r:id="Re44192a804f248f2"/>
    <p:sldLayoutId xmlns:r="http://schemas.openxmlformats.org/officeDocument/2006/relationships" id="2147483658" r:id="R2f0d80f97416424f"/>
    <p:sldLayoutId xmlns:r="http://schemas.openxmlformats.org/officeDocument/2006/relationships" id="2147483659" r:id="Rd7db8d8cd38f442d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2915a9cb1e94d02" /><Relationship Type="http://schemas.openxmlformats.org/officeDocument/2006/relationships/image" Target="/ppt/media/image.png" Id="R9fa78cbed8814010" /><Relationship Type="http://schemas.openxmlformats.org/officeDocument/2006/relationships/image" Target="/ppt/media/image2.png" Id="R5a98998aef754a05" /><Relationship Type="http://schemas.openxmlformats.org/officeDocument/2006/relationships/notesSlide" Target="/ppt/notesSlides/notesSlide1.xml" Id="R3f9f951b98334a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9deee8fdf44a9a" /><Relationship Type="http://schemas.openxmlformats.org/officeDocument/2006/relationships/notesSlide" Target="/ppt/notesSlides/notesSlide2.xml" Id="R46dfaf41176848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1579dfe47d14edd" /><Relationship Type="http://schemas.openxmlformats.org/officeDocument/2006/relationships/image" Target="/ppt/media/image3.png" Id="R8d91e36b70f54da6" /><Relationship Type="http://schemas.openxmlformats.org/officeDocument/2006/relationships/image" Target="/ppt/media/image.svg" Id="R71dfcb0fdbee4867" /><Relationship Type="http://schemas.openxmlformats.org/officeDocument/2006/relationships/image" Target="/ppt/media/image4.png" Id="R617a3b14bfbf4277" /><Relationship Type="http://schemas.openxmlformats.org/officeDocument/2006/relationships/image" Target="/ppt/media/image2.svg" Id="Rd98ac5e5799944a7" /><Relationship Type="http://schemas.openxmlformats.org/officeDocument/2006/relationships/image" Target="/ppt/media/image5.png" Id="R2301dd85b6ee4fce" /><Relationship Type="http://schemas.openxmlformats.org/officeDocument/2006/relationships/image" Target="/ppt/media/image3.svg" Id="R49cf37d141ad4061" /><Relationship Type="http://schemas.openxmlformats.org/officeDocument/2006/relationships/image" Target="/ppt/media/image6.png" Id="R14a8a55dccae42d1" /><Relationship Type="http://schemas.openxmlformats.org/officeDocument/2006/relationships/image" Target="/ppt/media/image4.svg" Id="Rc4838fb16cac4d2b" /><Relationship Type="http://schemas.openxmlformats.org/officeDocument/2006/relationships/image" Target="/ppt/media/image7.png" Id="R854ff6ef11014ce6" /><Relationship Type="http://schemas.openxmlformats.org/officeDocument/2006/relationships/image" Target="/ppt/media/image5.svg" Id="R6830184e07a14ce4" /><Relationship Type="http://schemas.openxmlformats.org/officeDocument/2006/relationships/image" Target="/ppt/media/image8.png" Id="Rf49a82b8d41843af" /><Relationship Type="http://schemas.openxmlformats.org/officeDocument/2006/relationships/image" Target="/ppt/media/image6.svg" Id="R6c18b19bef4c43a0" /><Relationship Type="http://schemas.openxmlformats.org/officeDocument/2006/relationships/image" Target="/ppt/media/image9.png" Id="R209bf40076dc4a98" /><Relationship Type="http://schemas.openxmlformats.org/officeDocument/2006/relationships/image" Target="/ppt/media/image7.svg" Id="R1e57d587c0304123" /><Relationship Type="http://schemas.openxmlformats.org/officeDocument/2006/relationships/image" Target="/ppt/media/image10.png" Id="R27263ab0d3a349bd" /><Relationship Type="http://schemas.openxmlformats.org/officeDocument/2006/relationships/image" Target="/ppt/media/image8.svg" Id="Reccedec59711497a" /><Relationship Type="http://schemas.openxmlformats.org/officeDocument/2006/relationships/notesSlide" Target="/ppt/notesSlides/notesSlide3.xml" Id="R8baa883f6df543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8fe251bda543ee" /><Relationship Type="http://schemas.openxmlformats.org/officeDocument/2006/relationships/notesSlide" Target="/ppt/notesSlides/notesSlide4.xml" Id="R18cc1b02b2004c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2de617352844691" /><Relationship Type="http://schemas.openxmlformats.org/officeDocument/2006/relationships/image" Target="/ppt/media/image11.png" Id="R63d60d7277314b66" /><Relationship Type="http://schemas.openxmlformats.org/officeDocument/2006/relationships/image" Target="/ppt/media/image9.svg" Id="R179a0db4329a4903" /><Relationship Type="http://schemas.openxmlformats.org/officeDocument/2006/relationships/notesSlide" Target="/ppt/notesSlides/notesSlide5.xml" Id="Rf663124c4dd749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e9b15494f8140fa" /><Relationship Type="http://schemas.openxmlformats.org/officeDocument/2006/relationships/image" Target="/ppt/media/image12.png" Id="R876cecda018047ad" /><Relationship Type="http://schemas.openxmlformats.org/officeDocument/2006/relationships/notesSlide" Target="/ppt/notesSlides/notesSlide6.xml" Id="R9918e06c00ce47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6f4550825e48cd" /><Relationship Type="http://schemas.openxmlformats.org/officeDocument/2006/relationships/notesSlide" Target="/ppt/notesSlides/notesSlide7.xml" Id="R1261c1cc72354ed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f8fa8d305545a4" /><Relationship Type="http://schemas.openxmlformats.org/officeDocument/2006/relationships/image" Target="/ppt/media/image13.png" Id="R387444c693f441b2" /><Relationship Type="http://schemas.openxmlformats.org/officeDocument/2006/relationships/image" Target="/ppt/media/image.png" Id="R87a786be60a340bd" /><Relationship Type="http://schemas.openxmlformats.org/officeDocument/2006/relationships/image" Target="/ppt/media/image14.png" Id="R0b5773bb81084c3f" /><Relationship Type="http://schemas.openxmlformats.org/officeDocument/2006/relationships/image" Target="/ppt/media/image10.svg" Id="Ra26dcf3e522147b4" /><Relationship Type="http://schemas.openxmlformats.org/officeDocument/2006/relationships/notesSlide" Target="/ppt/notesSlides/notesSlide8.xml" Id="R69747d60846d49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1e38fb7d6754cda" /><Relationship Type="http://schemas.openxmlformats.org/officeDocument/2006/relationships/image" Target="/ppt/media/image15.png" Id="R8300f9944c794e9e" /><Relationship Type="http://schemas.openxmlformats.org/officeDocument/2006/relationships/notesSlide" Target="/ppt/notesSlides/notesSlide9.xml" Id="R00326d8a236e458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b06e5434db4bf4" /><Relationship Type="http://schemas.openxmlformats.org/officeDocument/2006/relationships/image" Target="/ppt/media/image16.png" Id="R4a0933a9f8044e4b" /><Relationship Type="http://schemas.openxmlformats.org/officeDocument/2006/relationships/image" Target="/ppt/media/image11.svg" Id="R65365c15c6cb4dc6" /><Relationship Type="http://schemas.openxmlformats.org/officeDocument/2006/relationships/notesSlide" Target="/ppt/notesSlides/notesSlide10.xml" Id="R4ceb4ee184764e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808c85e98a74d1c" /><Relationship Type="http://schemas.openxmlformats.org/officeDocument/2006/relationships/notesSlide" Target="/ppt/notesSlides/notesSlide11.xml" Id="R51b05d0c92a040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e0f4db4a06f43ad" /><Relationship Type="http://schemas.openxmlformats.org/officeDocument/2006/relationships/image" Target="/ppt/media/image17.png" Id="Rbaa5396180b541a3" /><Relationship Type="http://schemas.openxmlformats.org/officeDocument/2006/relationships/notesSlide" Target="/ppt/notesSlides/notesSlide12.xml" Id="R1fff0e535fe249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2AEB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9318E29-5171-4AEF-84A4-FBD221BB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1104" y="2119219"/>
            <a:ext cx="3530631" cy="7835931"/>
          </a:xfrm>
          <a:custGeom xmlns:a="http://schemas.openxmlformats.org/drawingml/2006/main">
            <a:rect l="l" t="t" r="r" b="b"/>
            <a:pathLst>
              <a:path w="4707509" h="10447909">
                <a:moveTo>
                  <a:pt x="0" y="0"/>
                </a:moveTo>
                <a:lnTo>
                  <a:pt x="4707509" y="0"/>
                </a:lnTo>
                <a:lnTo>
                  <a:pt x="4707509" y="10447909"/>
                </a:lnTo>
                <a:lnTo>
                  <a:pt x="0" y="10447909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9fa78cbed8814010"/>
            <a:stretch>
              <a:fillRect l="0" t="0" r="0" b="0"/>
            </a:stretch>
          </a:blipFill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56C34D84-260B-4FBC-85AF-EF70086E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7051" y="2224736"/>
            <a:ext cx="10584160" cy="2294334"/>
          </a:xfrm>
          <a:custGeom xmlns:a="http://schemas.openxmlformats.org/drawingml/2006/main">
            <a:rect l="l" t="t" r="r" b="b"/>
            <a:pathLst>
              <a:path w="14112213" h="3059112">
                <a:moveTo>
                  <a:pt x="0" y="0"/>
                </a:moveTo>
                <a:lnTo>
                  <a:pt x="14112213" y="0"/>
                </a:lnTo>
                <a:lnTo>
                  <a:pt x="14112213" y="3059112"/>
                </a:lnTo>
                <a:lnTo>
                  <a:pt x="0" y="305911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FF33BB48-1318-4E7E-88B3-3DF086C7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57051" y="2203305"/>
            <a:ext cx="10584160" cy="231576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7680"/>
              </a:lnSpc>
              <a:buNone/>
            </a:pPr>
            <a:r>
              <a:rPr sz="6400">
                <a:solidFill>
                  <a:srgbClr val="FFFFFF"/>
                </a:solidFill>
                <a:latin typeface="Arial"/>
                <a:ea typeface="Arial"/>
                <a:cs typeface="Arial"/>
              </a:rPr>
              <a:t>BASIC PROJECT 3</a:t>
            </a:r>
          </a:p>
          <a:p xmlns:a="http://schemas.openxmlformats.org/drawingml/2006/main">
            <a:pPr algn="ctr">
              <a:lnSpc>
                <a:spcPts val="7679"/>
              </a:lnSpc>
              <a:buNone/>
            </a:pPr>
            <a:endParaRPr sz="640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Freeform 8">
            <a:extLst xmlns:a="http://schemas.openxmlformats.org/drawingml/2006/main">
              <a:ext uri="{FF2B5EF4-FFF2-40B4-BE49-F238E27FC236}">
                <a16:creationId xmlns:a16="http://schemas.microsoft.com/office/drawing/2014/main" id="{E7021292-369D-4873-BBC1-7DA514F2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4674" y="7867158"/>
            <a:ext cx="5745886" cy="1830065"/>
          </a:xfrm>
          <a:custGeom xmlns:a="http://schemas.openxmlformats.org/drawingml/2006/main">
            <a:rect l="l" t="t" r="r" b="b"/>
            <a:pathLst>
              <a:path w="6924464" h="2205442">
                <a:moveTo>
                  <a:pt x="0" y="0"/>
                </a:moveTo>
                <a:lnTo>
                  <a:pt x="6924464" y="0"/>
                </a:lnTo>
                <a:lnTo>
                  <a:pt x="6924464" y="2205442"/>
                </a:lnTo>
                <a:lnTo>
                  <a:pt x="0" y="220544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2A3B6C41-A412-4C20-BB1C-E7048BD8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64674" y="7851351"/>
            <a:ext cx="5745887" cy="18458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marL="604519" lvl="1" indent="-302260" algn="just">
              <a:lnSpc>
                <a:spcPts val="3359"/>
              </a:lnSpc>
              <a:buFont typeface="Arial"/>
              <a:buChar char="•"/>
            </a:pPr>
            <a:r>
              <a:rPr sz="2799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Students: </a:t>
            </a:r>
          </a:p>
          <a:p xmlns:a="http://schemas.openxmlformats.org/drawingml/2006/main">
            <a:pPr marL="1209039" lvl="2" indent="-403013" algn="just">
              <a:lnSpc>
                <a:spcPts val="3359"/>
              </a:lnSpc>
              <a:buFont typeface="Arial"/>
              <a:buChar char="⚬"/>
            </a:pPr>
            <a:r>
              <a:rPr sz="2799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Le Duy Khang - 24IT105</a:t>
            </a:r>
          </a:p>
          <a:p xmlns:a="http://schemas.openxmlformats.org/drawingml/2006/main">
            <a:pPr algn="just">
              <a:lnSpc>
                <a:spcPts val="3359"/>
              </a:lnSpc>
              <a:buNone/>
            </a:pPr>
            <a:endParaRPr sz="2799" b="1">
              <a:solidFill>
                <a:srgbClr val="FFFFFF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64B73C87-B9F0-410F-A267-B95ED86C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3573" y="3861444"/>
            <a:ext cx="8796047" cy="3438188"/>
          </a:xfrm>
          <a:custGeom xmlns:a="http://schemas.openxmlformats.org/drawingml/2006/main">
            <a:rect l="l" t="t" r="r" b="b"/>
            <a:pathLst>
              <a:path w="2316654" h="905531">
                <a:moveTo>
                  <a:pt x="48409" y="0"/>
                </a:moveTo>
                <a:lnTo>
                  <a:pt x="2268246" y="0"/>
                </a:lnTo>
                <a:cubicBezTo>
                  <a:pt x="2281084" y="0"/>
                  <a:pt x="2293397" y="5100"/>
                  <a:pt x="2302476" y="14179"/>
                </a:cubicBezTo>
                <a:cubicBezTo>
                  <a:pt x="2311554" y="23257"/>
                  <a:pt x="2316654" y="35570"/>
                  <a:pt x="2316654" y="48409"/>
                </a:cubicBezTo>
                <a:lnTo>
                  <a:pt x="2316654" y="857122"/>
                </a:lnTo>
                <a:cubicBezTo>
                  <a:pt x="2316654" y="883858"/>
                  <a:pt x="2294981" y="905531"/>
                  <a:pt x="2268246" y="905531"/>
                </a:cubicBezTo>
                <a:lnTo>
                  <a:pt x="48409" y="905531"/>
                </a:lnTo>
                <a:cubicBezTo>
                  <a:pt x="35570" y="905531"/>
                  <a:pt x="23257" y="900431"/>
                  <a:pt x="14179" y="891352"/>
                </a:cubicBezTo>
                <a:cubicBezTo>
                  <a:pt x="5100" y="882274"/>
                  <a:pt x="0" y="869961"/>
                  <a:pt x="0" y="857122"/>
                </a:cubicBezTo>
                <a:lnTo>
                  <a:pt x="0" y="48409"/>
                </a:lnTo>
                <a:cubicBezTo>
                  <a:pt x="0" y="35570"/>
                  <a:pt x="5100" y="23257"/>
                  <a:pt x="14179" y="14179"/>
                </a:cubicBezTo>
                <a:cubicBezTo>
                  <a:pt x="23257" y="5100"/>
                  <a:pt x="35570" y="0"/>
                  <a:pt x="48409" y="0"/>
                </a:cubicBezTo>
                <a:close/>
              </a:path>
            </a:pathLst>
          </a:custGeom>
          <a:solidFill xmlns:a="http://schemas.openxmlformats.org/drawingml/2006/main">
            <a:srgbClr val="FFF3C2"/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C0D6CD-C07F-4ED6-AE21-C3D83E24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3573" y="3716784"/>
            <a:ext cx="8796047" cy="358284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327DBBD4-FF2A-41D4-A5F0-5149AB97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4852" y="4084992"/>
            <a:ext cx="9411419" cy="2991091"/>
          </a:xfrm>
          <a:custGeom xmlns:a="http://schemas.openxmlformats.org/drawingml/2006/main">
            <a:rect l="l" t="t" r="r" b="b"/>
            <a:pathLst>
              <a:path w="12703862" h="4037479">
                <a:moveTo>
                  <a:pt x="0" y="0"/>
                </a:moveTo>
                <a:lnTo>
                  <a:pt x="12703862" y="0"/>
                </a:lnTo>
                <a:lnTo>
                  <a:pt x="12703862" y="4037479"/>
                </a:lnTo>
                <a:lnTo>
                  <a:pt x="0" y="403747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7E5BA850-BAF2-4771-84F5-AF971E4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04852" y="4063823"/>
            <a:ext cx="9411419" cy="30122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6480"/>
              </a:lnSpc>
              <a:buNone/>
            </a:pPr>
            <a:r>
              <a:rPr sz="5400"/>
              <a:t>MiniNote</a:t>
            </a:r>
            <a:br/>
            <a:r>
              <a:rPr sz="5400"/>
              <a:t>Android</a:t>
            </a:r>
            <a:r>
              <a:rPr sz="5400"/>
              <a:t> </a:t>
            </a:r>
            <a:r>
              <a:rPr sz="5400"/>
              <a:t>Note</a:t>
            </a:r>
            <a:r>
              <a:rPr sz="5400"/>
              <a:t> </a:t>
            </a:r>
            <a:r>
              <a:rPr sz="5400"/>
              <a:t>Management</a:t>
            </a:r>
            <a:r>
              <a:rPr sz="5400"/>
              <a:t> </a:t>
            </a:r>
            <a:r>
              <a:rPr sz="5400"/>
              <a:t>Application</a:t>
            </a:r>
            <a:r>
              <a:rPr sz="5400"/>
              <a:t> </a:t>
            </a:r>
            <a:r>
              <a:rPr sz="5400"/>
              <a:t>for</a:t>
            </a:r>
            <a:r>
              <a:rPr sz="5400"/>
              <a:t> </a:t>
            </a:r>
            <a:r>
              <a:rPr sz="5400"/>
              <a:t>Students</a:t>
            </a:r>
            <a:endParaRPr sz="540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842394C9-1E81-4A89-95A3-66068C7D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124637" cy="2008695"/>
          </a:xfrm>
          <a:custGeom xmlns:a="http://schemas.openxmlformats.org/drawingml/2006/main">
            <a:rect l="l" t="t" r="r" b="b"/>
            <a:pathLst>
              <a:path w="3124637" h="2008695">
                <a:moveTo>
                  <a:pt x="0" y="0"/>
                </a:moveTo>
                <a:lnTo>
                  <a:pt x="3124637" y="0"/>
                </a:lnTo>
                <a:lnTo>
                  <a:pt x="3124637" y="2008695"/>
                </a:lnTo>
                <a:lnTo>
                  <a:pt x="0" y="200869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5a98998aef754a05"/>
            <a:stretch>
              <a:fillRect l="0" t="0" r="0" b="0"/>
            </a:stretch>
          </a:blip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CC2072C3-44F9-4E02-88A6-8C8AA374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2649" y="7983699"/>
            <a:ext cx="5783911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sz="2799" b="1">
                <a:solidFill>
                  <a:srgbClr val="FEFEFD"/>
                </a:solidFill>
                <a:latin typeface="Arial Bold"/>
                <a:ea typeface="Arial Bold"/>
                <a:cs typeface="Arial Bold"/>
              </a:rPr>
              <a:t>Supervisor: MSc. Nguyen Dang Y </a:t>
            </a:r>
          </a:p>
          <a:p xmlns:a="http://schemas.openxmlformats.org/drawingml/2006/main">
            <a:pPr marL="604519" lvl="1" indent="-302260" algn="l">
              <a:lnSpc>
                <a:spcPts val="3359"/>
              </a:lnSpc>
              <a:buFont typeface="Arial"/>
              <a:buChar char="•"/>
            </a:pPr>
            <a:r>
              <a:rPr sz="2799" b="1">
                <a:solidFill>
                  <a:srgbClr val="FEFEFD"/>
                </a:solidFill>
                <a:latin typeface="Arial Bold"/>
                <a:ea typeface="Arial Bold"/>
                <a:cs typeface="Arial Bold"/>
              </a:rPr>
              <a:t>Faculty: Computer Science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A16027A5-6E7A-4FA7-A4FF-1A17A330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5537" y="688829"/>
            <a:ext cx="10584160" cy="1209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99"/>
              </a:lnSpc>
              <a:spcBef>
                <a:spcPct val="0"/>
              </a:spcBef>
              <a:buNone/>
            </a:pPr>
            <a:r>
              <a:rPr sz="3999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Vietnam-Korea University of Information and Communication Technology</a:t>
            </a:r>
          </a:p>
        </p:txBody>
      </p:sp>
    </p:spTree>
    <p:extLst>
      <p:ext uri="{BB962C8B-B14F-4D97-AF65-F5344CB8AC3E}">
        <p14:creationId xmlns:p14="http://schemas.microsoft.com/office/powerpoint/2010/main" val="156281741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ACEE0CB1-7DB8-40EF-AF52-307AC9B5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927000"/>
            <a:ext cx="18288000" cy="360045"/>
          </a:xfrm>
          <a:custGeom xmlns:a="http://schemas.openxmlformats.org/drawingml/2006/main">
            <a:rect l="l" t="t" r="r" b="b"/>
            <a:pathLst>
              <a:path w="24384000" h="480060">
                <a:moveTo>
                  <a:pt x="0" y="0"/>
                </a:moveTo>
                <a:lnTo>
                  <a:pt x="24384000" y="0"/>
                </a:lnTo>
                <a:lnTo>
                  <a:pt x="24384000" y="480060"/>
                </a:lnTo>
                <a:lnTo>
                  <a:pt x="0" y="48006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C76B934-4831-49F1-BEE6-7FE7886C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1C668420-9533-4625-A223-60715BA6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0" y="807630"/>
            <a:ext cx="18288000" cy="1152128"/>
          </a:xfrm>
          <a:custGeom xmlns:a="http://schemas.openxmlformats.org/drawingml/2006/main">
            <a:rect l="l" t="t" r="r" b="b"/>
            <a:pathLst>
              <a:path w="24384000" h="1536171">
                <a:moveTo>
                  <a:pt x="0" y="0"/>
                </a:moveTo>
                <a:lnTo>
                  <a:pt x="24384000" y="0"/>
                </a:lnTo>
                <a:lnTo>
                  <a:pt x="24384000" y="1536171"/>
                </a:lnTo>
                <a:lnTo>
                  <a:pt x="0" y="153617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30B42925-D31E-43E1-84C0-4D738687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0" y="786199"/>
            <a:ext cx="18288000" cy="1173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Contents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DEB6F890-2D8F-47EC-85F3-4D8D1162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000" y="2345532"/>
            <a:ext cx="18288000" cy="6912768"/>
          </a:xfrm>
          <a:custGeom xmlns:a="http://schemas.openxmlformats.org/drawingml/2006/main">
            <a:rect l="l" t="t" r="r" b="b"/>
            <a:pathLst>
              <a:path w="24384000" h="9217025">
                <a:moveTo>
                  <a:pt x="0" y="0"/>
                </a:moveTo>
                <a:lnTo>
                  <a:pt x="24384000" y="0"/>
                </a:lnTo>
                <a:lnTo>
                  <a:pt x="24384000" y="9217025"/>
                </a:lnTo>
                <a:lnTo>
                  <a:pt x="0" y="9217025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167B097-02C1-4055-A020-05307FB1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05222" y="3415308"/>
            <a:ext cx="1152143" cy="1152143"/>
          </a:xfrm>
          <a:custGeom xmlns:a="http://schemas.openxmlformats.org/drawingml/2006/main">
            <a:rect l="l" t="t" r="r" b="b"/>
            <a:pathLst>
              <a:path w="1536192" h="1536192">
                <a:moveTo>
                  <a:pt x="0" y="768096"/>
                </a:moveTo>
                <a:cubicBezTo>
                  <a:pt x="0" y="343916"/>
                  <a:pt x="343916" y="0"/>
                  <a:pt x="768096" y="0"/>
                </a:cubicBezTo>
                <a:cubicBezTo>
                  <a:pt x="1192276" y="0"/>
                  <a:pt x="1536192" y="343916"/>
                  <a:pt x="1536192" y="768096"/>
                </a:cubicBezTo>
                <a:cubicBezTo>
                  <a:pt x="1536192" y="1192276"/>
                  <a:pt x="1192276" y="1536192"/>
                  <a:pt x="768096" y="1536192"/>
                </a:cubicBezTo>
                <a:cubicBezTo>
                  <a:pt x="343916" y="1536192"/>
                  <a:pt x="0" y="1192276"/>
                  <a:pt x="0" y="7680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0D206D60-6BF3-474C-AE40-CD96BD9F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69504" y="5431532"/>
            <a:ext cx="1152143" cy="1152143"/>
          </a:xfrm>
          <a:custGeom xmlns:a="http://schemas.openxmlformats.org/drawingml/2006/main">
            <a:rect l="l" t="t" r="r" b="b"/>
            <a:pathLst>
              <a:path w="1536192" h="1536192">
                <a:moveTo>
                  <a:pt x="0" y="768096"/>
                </a:moveTo>
                <a:cubicBezTo>
                  <a:pt x="0" y="343916"/>
                  <a:pt x="343916" y="0"/>
                  <a:pt x="768096" y="0"/>
                </a:cubicBezTo>
                <a:cubicBezTo>
                  <a:pt x="1192276" y="0"/>
                  <a:pt x="1536192" y="343916"/>
                  <a:pt x="1536192" y="768096"/>
                </a:cubicBezTo>
                <a:cubicBezTo>
                  <a:pt x="1536192" y="1192276"/>
                  <a:pt x="1192276" y="1536192"/>
                  <a:pt x="768096" y="1536192"/>
                </a:cubicBezTo>
                <a:cubicBezTo>
                  <a:pt x="343916" y="1536192"/>
                  <a:pt x="0" y="1192276"/>
                  <a:pt x="0" y="7680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CBBEBCCC-DA40-46A4-9196-A81825BC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33786" y="7447756"/>
            <a:ext cx="1152143" cy="1152143"/>
          </a:xfrm>
          <a:custGeom xmlns:a="http://schemas.openxmlformats.org/drawingml/2006/main">
            <a:rect l="l" t="t" r="r" b="b"/>
            <a:pathLst>
              <a:path w="1536192" h="1536192">
                <a:moveTo>
                  <a:pt x="0" y="768096"/>
                </a:moveTo>
                <a:cubicBezTo>
                  <a:pt x="0" y="343916"/>
                  <a:pt x="343916" y="0"/>
                  <a:pt x="768096" y="0"/>
                </a:cubicBezTo>
                <a:cubicBezTo>
                  <a:pt x="1192276" y="0"/>
                  <a:pt x="1536192" y="343916"/>
                  <a:pt x="1536192" y="768096"/>
                </a:cubicBezTo>
                <a:cubicBezTo>
                  <a:pt x="1536192" y="1192276"/>
                  <a:pt x="1192276" y="1536192"/>
                  <a:pt x="768096" y="1536192"/>
                </a:cubicBezTo>
                <a:cubicBezTo>
                  <a:pt x="343916" y="1536192"/>
                  <a:pt x="0" y="1192276"/>
                  <a:pt x="0" y="7680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04596BA3-030F-451D-BC50-84B4B031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2509" y="3585994"/>
            <a:ext cx="5839716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Motivation &amp; Objectives</a:t>
            </a: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73B907EA-F86F-46AF-B357-5464EF57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2748" y="5736958"/>
            <a:ext cx="5145712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Technologies Used</a:t>
            </a: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0DBACA38-7A90-444D-B29E-57067A4D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2214" y="7656676"/>
            <a:ext cx="5145712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System Analysis -Use Case</a:t>
            </a:r>
          </a:p>
        </p:txBody>
      </p:sp>
      <p:sp>
        <p:nvSpPr>
          <p:cNvPr id="21" name="Freeform 21">
            <a:extLst xmlns:a="http://schemas.openxmlformats.org/drawingml/2006/main">
              <a:ext uri="{FF2B5EF4-FFF2-40B4-BE49-F238E27FC236}">
                <a16:creationId xmlns:a16="http://schemas.microsoft.com/office/drawing/2014/main" id="{DEF7AAFD-9015-4CC7-BF17-75117F6C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97294" y="3432074"/>
            <a:ext cx="1152143" cy="1152143"/>
          </a:xfrm>
          <a:custGeom xmlns:a="http://schemas.openxmlformats.org/drawingml/2006/main">
            <a:rect l="l" t="t" r="r" b="b"/>
            <a:pathLst>
              <a:path w="1536192" h="1536192">
                <a:moveTo>
                  <a:pt x="0" y="768096"/>
                </a:moveTo>
                <a:cubicBezTo>
                  <a:pt x="0" y="343916"/>
                  <a:pt x="343916" y="0"/>
                  <a:pt x="768096" y="0"/>
                </a:cubicBezTo>
                <a:cubicBezTo>
                  <a:pt x="1192276" y="0"/>
                  <a:pt x="1536192" y="343916"/>
                  <a:pt x="1536192" y="768096"/>
                </a:cubicBezTo>
                <a:cubicBezTo>
                  <a:pt x="1536192" y="1192276"/>
                  <a:pt x="1192276" y="1536192"/>
                  <a:pt x="768096" y="1536192"/>
                </a:cubicBezTo>
                <a:cubicBezTo>
                  <a:pt x="343916" y="1536192"/>
                  <a:pt x="0" y="1192276"/>
                  <a:pt x="0" y="7680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23" name="Freeform 23">
            <a:extLst xmlns:a="http://schemas.openxmlformats.org/drawingml/2006/main">
              <a:ext uri="{FF2B5EF4-FFF2-40B4-BE49-F238E27FC236}">
                <a16:creationId xmlns:a16="http://schemas.microsoft.com/office/drawing/2014/main" id="{E5FB350F-19FC-41AF-88AE-7443182A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61576" y="5448298"/>
            <a:ext cx="1152143" cy="1152143"/>
          </a:xfrm>
          <a:custGeom xmlns:a="http://schemas.openxmlformats.org/drawingml/2006/main">
            <a:rect l="l" t="t" r="r" b="b"/>
            <a:pathLst>
              <a:path w="1536192" h="1536192">
                <a:moveTo>
                  <a:pt x="0" y="768096"/>
                </a:moveTo>
                <a:cubicBezTo>
                  <a:pt x="0" y="343916"/>
                  <a:pt x="343916" y="0"/>
                  <a:pt x="768096" y="0"/>
                </a:cubicBezTo>
                <a:cubicBezTo>
                  <a:pt x="1192276" y="0"/>
                  <a:pt x="1536192" y="343916"/>
                  <a:pt x="1536192" y="768096"/>
                </a:cubicBezTo>
                <a:cubicBezTo>
                  <a:pt x="1536192" y="1192276"/>
                  <a:pt x="1192276" y="1536192"/>
                  <a:pt x="768096" y="1536192"/>
                </a:cubicBezTo>
                <a:cubicBezTo>
                  <a:pt x="343916" y="1536192"/>
                  <a:pt x="0" y="1192276"/>
                  <a:pt x="0" y="7680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BDF784D6-E32E-416A-95F7-01D73E59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588" y="3573142"/>
            <a:ext cx="5145712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Database Design</a:t>
            </a: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29BCB187-D25B-4E71-AB4F-D0336CDA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589" y="5401322"/>
            <a:ext cx="5145711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Key Features &amp; Demo</a:t>
            </a:r>
          </a:p>
        </p:txBody>
      </p:sp>
      <p:sp>
        <p:nvSpPr>
          <p:cNvPr id="27" name="Freeform 27">
            <a:extLst xmlns:a="http://schemas.openxmlformats.org/drawingml/2006/main">
              <a:ext uri="{FF2B5EF4-FFF2-40B4-BE49-F238E27FC236}">
                <a16:creationId xmlns:a16="http://schemas.microsoft.com/office/drawing/2014/main" id="{381FCCFA-1D3B-4165-8568-16E30599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08000" y="3307596"/>
            <a:ext cx="72009" cy="5400008"/>
          </a:xfrm>
          <a:custGeom xmlns:a="http://schemas.openxmlformats.org/drawingml/2006/main">
            <a:rect l="l" t="t" r="r" b="b"/>
            <a:pathLst>
              <a:path w="96012" h="7200011">
                <a:moveTo>
                  <a:pt x="0" y="0"/>
                </a:moveTo>
                <a:lnTo>
                  <a:pt x="96012" y="0"/>
                </a:lnTo>
                <a:lnTo>
                  <a:pt x="96012" y="7200011"/>
                </a:lnTo>
                <a:lnTo>
                  <a:pt x="0" y="720001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EA9D25A6-AA4E-4869-B6D6-A1E20ED6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854" y="3573142"/>
            <a:ext cx="1102864" cy="850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59"/>
              </a:lnSpc>
              <a:buNone/>
            </a:pPr>
            <a:r>
              <a:rPr sz="48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5AFA66C7-7F87-48F0-A4DA-E9FE666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418" y="5572600"/>
            <a:ext cx="1102864" cy="850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59"/>
              </a:lnSpc>
              <a:buNone/>
            </a:pPr>
            <a:r>
              <a:rPr sz="48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041F1913-A0F4-4E16-86CE-C8717A87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418" y="7588824"/>
            <a:ext cx="1102864" cy="850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59"/>
              </a:lnSpc>
              <a:buNone/>
            </a:pPr>
            <a:r>
              <a:rPr sz="48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2884A19F-56DB-4B92-8358-25FE575F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6820" y="3585994"/>
            <a:ext cx="1102864" cy="850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59"/>
              </a:lnSpc>
              <a:buNone/>
            </a:pPr>
            <a:r>
              <a:rPr sz="48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04</a:t>
            </a:r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6ADF590A-146E-44C6-BE06-9FEA2515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384" y="5585452"/>
            <a:ext cx="1102864" cy="850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59"/>
              </a:lnSpc>
              <a:buNone/>
            </a:pPr>
            <a:r>
              <a:rPr sz="48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05</a:t>
            </a:r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B80C87BD-4C1B-4F80-84BC-F1FFCD94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384" y="7601676"/>
            <a:ext cx="1102864" cy="8509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59"/>
              </a:lnSpc>
              <a:buNone/>
            </a:pPr>
            <a:r>
              <a:rPr sz="48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06</a:t>
            </a:r>
          </a:p>
        </p:txBody>
      </p:sp>
      <p:sp>
        <p:nvSpPr>
          <p:cNvPr id="35" name="Freeform 35">
            <a:extLst xmlns:a="http://schemas.openxmlformats.org/drawingml/2006/main">
              <a:ext uri="{FF2B5EF4-FFF2-40B4-BE49-F238E27FC236}">
                <a16:creationId xmlns:a16="http://schemas.microsoft.com/office/drawing/2014/main" id="{0C8700A6-E91D-4153-9310-D663EF16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06120" y="7267176"/>
            <a:ext cx="1152143" cy="1152143"/>
          </a:xfrm>
          <a:custGeom xmlns:a="http://schemas.openxmlformats.org/drawingml/2006/main">
            <a:rect l="l" t="t" r="r" b="b"/>
            <a:pathLst>
              <a:path w="1536192" h="1536192">
                <a:moveTo>
                  <a:pt x="0" y="768096"/>
                </a:moveTo>
                <a:cubicBezTo>
                  <a:pt x="0" y="343916"/>
                  <a:pt x="343916" y="0"/>
                  <a:pt x="768096" y="0"/>
                </a:cubicBezTo>
                <a:cubicBezTo>
                  <a:pt x="1192276" y="0"/>
                  <a:pt x="1536192" y="343916"/>
                  <a:pt x="1536192" y="768096"/>
                </a:cubicBezTo>
                <a:cubicBezTo>
                  <a:pt x="1536192" y="1192276"/>
                  <a:pt x="1192276" y="1536192"/>
                  <a:pt x="768096" y="1536192"/>
                </a:cubicBezTo>
                <a:cubicBezTo>
                  <a:pt x="343916" y="1536192"/>
                  <a:pt x="0" y="1192276"/>
                  <a:pt x="0" y="7680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E56433FC-A52D-4DED-8042-A04B77D5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5384" y="7448151"/>
            <a:ext cx="1102864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5759"/>
              </a:lnSpc>
              <a:buNone/>
            </a:pPr>
            <a:r>
              <a:rPr sz="48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06</a:t>
            </a:r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40BD0DA5-895A-4CB6-81F2-12C9224A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589" y="7200104"/>
            <a:ext cx="5145711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Conclusion &amp; Future Work</a:t>
            </a:r>
          </a:p>
        </p:txBody>
      </p:sp>
    </p:spTree>
    <p:extLst>
      <p:ext uri="{BB962C8B-B14F-4D97-AF65-F5344CB8AC3E}">
        <p14:creationId xmlns:p14="http://schemas.microsoft.com/office/powerpoint/2010/main" val="142522970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1CF566E2-3D49-4E1A-9253-30BFCC3C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927000"/>
            <a:ext cx="18288000" cy="360045"/>
          </a:xfrm>
          <a:custGeom xmlns:a="http://schemas.openxmlformats.org/drawingml/2006/main">
            <a:rect l="l" t="t" r="r" b="b"/>
            <a:pathLst>
              <a:path w="24384000" h="480060">
                <a:moveTo>
                  <a:pt x="0" y="0"/>
                </a:moveTo>
                <a:lnTo>
                  <a:pt x="24384000" y="0"/>
                </a:lnTo>
                <a:lnTo>
                  <a:pt x="24384000" y="480060"/>
                </a:lnTo>
                <a:lnTo>
                  <a:pt x="0" y="48006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3AD58BF7-F959-4A5C-985D-6DE74E4E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184EF39-C147-4A8C-82D5-48C9AFB8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83938"/>
            <a:ext cx="18288000" cy="1490514"/>
          </a:xfrm>
          <a:custGeom xmlns:a="http://schemas.openxmlformats.org/drawingml/2006/main">
            <a:rect l="l" t="t" r="r" b="b"/>
            <a:pathLst>
              <a:path w="24384000" h="1987352">
                <a:moveTo>
                  <a:pt x="0" y="0"/>
                </a:moveTo>
                <a:lnTo>
                  <a:pt x="24384000" y="0"/>
                </a:lnTo>
                <a:lnTo>
                  <a:pt x="24384000" y="1987352"/>
                </a:lnTo>
                <a:lnTo>
                  <a:pt x="0" y="19873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26AC3312-DC80-4303-A832-575FDCB7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62507"/>
            <a:ext cx="18288000" cy="1511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Motivation</a:t>
            </a:r>
          </a:p>
        </p:txBody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853D2AF0-5B01-4086-8D32-C1C26938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1788" y="3935466"/>
            <a:ext cx="1800000" cy="1800000"/>
          </a:xfrm>
          <a:custGeom xmlns:a="http://schemas.openxmlformats.org/drawingml/2006/main">
            <a:rect l="l" t="t" r="r" b="b"/>
            <a:pathLst>
              <a:path w="1800000" h="1800000">
                <a:moveTo>
                  <a:pt x="0" y="0"/>
                </a:moveTo>
                <a:lnTo>
                  <a:pt x="1800000" y="0"/>
                </a:lnTo>
                <a:lnTo>
                  <a:pt x="1800000" y="1800000"/>
                </a:lnTo>
                <a:lnTo>
                  <a:pt x="0" y="1800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d91e36b70f54da6">
              <a:extLst>
                <a:ext uri="{96DAC541-7B7A-43D3-8B79-37D633B846F1}">
                  <asvg:svgBlip xmlns:asvg="http://schemas.microsoft.com/office/drawing/2016/SVG/main" r:embed="R71dfcb0fdbee486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FB81ABC-77C2-4D59-812E-DB780E42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368" y="3431466"/>
            <a:ext cx="2304000" cy="2304000"/>
          </a:xfrm>
          <a:custGeom xmlns:a="http://schemas.openxmlformats.org/drawingml/2006/main">
            <a:rect l="l" t="t" r="r" b="b"/>
            <a:pathLst>
              <a:path w="2304000" h="2304000">
                <a:moveTo>
                  <a:pt x="0" y="0"/>
                </a:moveTo>
                <a:lnTo>
                  <a:pt x="2304000" y="0"/>
                </a:lnTo>
                <a:lnTo>
                  <a:pt x="2304000" y="2304000"/>
                </a:lnTo>
                <a:lnTo>
                  <a:pt x="0" y="2304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17a3b14bfbf4277">
              <a:extLst>
                <a:ext uri="{96DAC541-7B7A-43D3-8B79-37D633B846F1}">
                  <asvg:svgBlip xmlns:asvg="http://schemas.microsoft.com/office/drawing/2016/SVG/main" r:embed="Rd98ac5e5799944a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B293FD76-CCF2-42DC-96C2-F7D5751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3368" y="5960044"/>
            <a:ext cx="1440000" cy="1440000"/>
          </a:xfrm>
          <a:custGeom xmlns:a="http://schemas.openxmlformats.org/drawingml/2006/main">
            <a:rect l="l" t="t" r="r" b="b"/>
            <a:pathLst>
              <a:path w="1440000" h="1440000"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301dd85b6ee4fce">
              <a:extLst>
                <a:ext uri="{96DAC541-7B7A-43D3-8B79-37D633B846F1}">
                  <asvg:svgBlip xmlns:asvg="http://schemas.microsoft.com/office/drawing/2016/SVG/main" r:embed="R49cf37d141ad406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56CFAA7F-6EFA-47AC-B38D-46D3FC420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722" y="5960046"/>
            <a:ext cx="2016066" cy="2016066"/>
          </a:xfrm>
          <a:custGeom xmlns:a="http://schemas.openxmlformats.org/drawingml/2006/main">
            <a:rect l="l" t="t" r="r" b="b"/>
            <a:pathLst>
              <a:path w="2016066" h="2016066">
                <a:moveTo>
                  <a:pt x="0" y="0"/>
                </a:moveTo>
                <a:lnTo>
                  <a:pt x="2016066" y="0"/>
                </a:lnTo>
                <a:lnTo>
                  <a:pt x="2016066" y="2016066"/>
                </a:lnTo>
                <a:lnTo>
                  <a:pt x="0" y="2016066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14a8a55dccae42d1">
              <a:extLst>
                <a:ext uri="{96DAC541-7B7A-43D3-8B79-37D633B846F1}">
                  <asvg:svgBlip xmlns:asvg="http://schemas.microsoft.com/office/drawing/2016/SVG/main" r:embed="Rc4838fb16cac4d2b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B41ED25-F368-4F83-AD88-5959C91E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8104" y="6018632"/>
            <a:ext cx="622894" cy="727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800"/>
              </a:lnSpc>
              <a:buNone/>
            </a:pPr>
            <a:r>
              <a:rPr sz="40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D</a:t>
            </a:r>
          </a:p>
        </p:txBody>
      </p:sp>
      <p:sp>
        <p:nvSpPr>
          <p:cNvPr id="14" name="Freeform 14">
            <a:extLst xmlns:a="http://schemas.openxmlformats.org/drawingml/2006/main">
              <a:ext uri="{FF2B5EF4-FFF2-40B4-BE49-F238E27FC236}">
                <a16:creationId xmlns:a16="http://schemas.microsoft.com/office/drawing/2014/main" id="{A3427393-7BA2-41E8-84B9-B2A45A3A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432" y="4156960"/>
            <a:ext cx="645310" cy="604068"/>
          </a:xfrm>
          <a:custGeom xmlns:a="http://schemas.openxmlformats.org/drawingml/2006/main">
            <a:rect l="l" t="t" r="r" b="b"/>
            <a:pathLst>
              <a:path w="645310" h="604068">
                <a:moveTo>
                  <a:pt x="0" y="0"/>
                </a:moveTo>
                <a:lnTo>
                  <a:pt x="645310" y="0"/>
                </a:lnTo>
                <a:lnTo>
                  <a:pt x="645310" y="604068"/>
                </a:lnTo>
                <a:lnTo>
                  <a:pt x="0" y="6040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54ff6ef11014ce6">
              <a:extLst>
                <a:ext uri="{96DAC541-7B7A-43D3-8B79-37D633B846F1}">
                  <asvg:svgBlip xmlns:asvg="http://schemas.microsoft.com/office/drawing/2016/SVG/main" r:embed="R6830184e07a14ce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494E17AD-F92D-402B-99CD-F1717E71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318" y="6874287"/>
            <a:ext cx="965479" cy="965479"/>
          </a:xfrm>
          <a:custGeom xmlns:a="http://schemas.openxmlformats.org/drawingml/2006/main">
            <a:rect l="l" t="t" r="r" b="b"/>
            <a:pathLst>
              <a:path w="965479" h="965479">
                <a:moveTo>
                  <a:pt x="0" y="0"/>
                </a:moveTo>
                <a:lnTo>
                  <a:pt x="965480" y="0"/>
                </a:lnTo>
                <a:lnTo>
                  <a:pt x="965480" y="965480"/>
                </a:lnTo>
                <a:lnTo>
                  <a:pt x="0" y="96548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f49a82b8d41843af">
              <a:extLst>
                <a:ext uri="{96DAC541-7B7A-43D3-8B79-37D633B846F1}">
                  <asvg:svgBlip xmlns:asvg="http://schemas.microsoft.com/office/drawing/2016/SVG/main" r:embed="R6c18b19bef4c43a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FD57D18D-6C7E-4934-BEB8-86CAD3D81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6982" y="3793996"/>
            <a:ext cx="782932" cy="789470"/>
          </a:xfrm>
          <a:custGeom xmlns:a="http://schemas.openxmlformats.org/drawingml/2006/main">
            <a:rect l="l" t="t" r="r" b="b"/>
            <a:pathLst>
              <a:path w="782932" h="789470">
                <a:moveTo>
                  <a:pt x="0" y="0"/>
                </a:moveTo>
                <a:lnTo>
                  <a:pt x="782932" y="0"/>
                </a:lnTo>
                <a:lnTo>
                  <a:pt x="782932" y="789470"/>
                </a:lnTo>
                <a:lnTo>
                  <a:pt x="0" y="78947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09bf40076dc4a98">
              <a:extLst>
                <a:ext uri="{96DAC541-7B7A-43D3-8B79-37D633B846F1}">
                  <asvg:svgBlip xmlns:asvg="http://schemas.microsoft.com/office/drawing/2016/SVG/main" r:embed="R1e57d587c03041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4C369AB8-B1BB-4C76-8504-2A375551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824" y="6741340"/>
            <a:ext cx="590356" cy="453474"/>
          </a:xfrm>
          <a:custGeom xmlns:a="http://schemas.openxmlformats.org/drawingml/2006/main">
            <a:rect l="l" t="t" r="r" b="b"/>
            <a:pathLst>
              <a:path w="590356" h="453474">
                <a:moveTo>
                  <a:pt x="0" y="0"/>
                </a:moveTo>
                <a:lnTo>
                  <a:pt x="590356" y="0"/>
                </a:lnTo>
                <a:lnTo>
                  <a:pt x="590356" y="453474"/>
                </a:lnTo>
                <a:lnTo>
                  <a:pt x="0" y="453474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27263ab0d3a349bd">
              <a:extLst>
                <a:ext uri="{96DAC541-7B7A-43D3-8B79-37D633B846F1}">
                  <asvg:svgBlip xmlns:asvg="http://schemas.microsoft.com/office/drawing/2016/SVG/main" r:embed="Reccedec59711497a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149FEA2-F31D-455F-9CED-1A848BF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64" y="4411678"/>
            <a:ext cx="6741216" cy="900000"/>
          </a:xfrm>
          <a:custGeom xmlns:a="http://schemas.openxmlformats.org/drawingml/2006/main">
            <a:rect l="l" t="t" r="r" b="b"/>
            <a:pathLst>
              <a:path w="1775464" h="237037">
                <a:moveTo>
                  <a:pt x="0" y="0"/>
                </a:moveTo>
                <a:lnTo>
                  <a:pt x="1775464" y="0"/>
                </a:lnTo>
                <a:lnTo>
                  <a:pt x="1775464" y="237037"/>
                </a:lnTo>
                <a:lnTo>
                  <a:pt x="0" y="237037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E8BC53B5-F5C6-4E9E-BA85-887A8FFB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064" y="4267018"/>
            <a:ext cx="6741216" cy="10446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3A209B58-907B-4E2F-8371-864968A8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634" y="4799166"/>
            <a:ext cx="622894" cy="727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800"/>
              </a:lnSpc>
              <a:buNone/>
            </a:pPr>
            <a:r>
              <a:rPr sz="40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A</a:t>
            </a: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B23B7A77-DBA9-4963-B9C1-4AFA515E1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8038" y="4719758"/>
            <a:ext cx="622894" cy="727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800"/>
              </a:lnSpc>
              <a:buNone/>
            </a:pPr>
            <a:r>
              <a:rPr sz="40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B</a:t>
            </a: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89131841-4464-406F-A8E3-5EAAFB9D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1634" y="6175176"/>
            <a:ext cx="622894" cy="727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800"/>
              </a:lnSpc>
              <a:buNone/>
            </a:pPr>
            <a:r>
              <a:rPr sz="4000" b="1">
                <a:solidFill>
                  <a:srgbClr val="32AEB8"/>
                </a:solidFill>
                <a:latin typeface="Arial Bold"/>
                <a:ea typeface="Arial Bold"/>
                <a:cs typeface="Arial Bold"/>
              </a:rPr>
              <a:t>C</a:t>
            </a: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25DB3BB9-44F4-4227-85F1-F5F04075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580" y="4474073"/>
            <a:ext cx="7165852" cy="5491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4800"/>
              </a:lnSpc>
              <a:buNone/>
            </a:pPr>
            <a:r>
              <a:rPr sz="3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Difficulty in managing study notes.</a:t>
            </a:r>
          </a:p>
        </p:txBody>
      </p:sp>
      <p:sp>
        <p:nvSpPr>
          <p:cNvPr id="26" name="Freeform 26">
            <a:extLst xmlns:a="http://schemas.openxmlformats.org/drawingml/2006/main">
              <a:ext uri="{FF2B5EF4-FFF2-40B4-BE49-F238E27FC236}">
                <a16:creationId xmlns:a16="http://schemas.microsoft.com/office/drawing/2014/main" id="{D569D27D-52C2-489B-89C4-4C2A0459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822" y="6501221"/>
            <a:ext cx="6559700" cy="1294941"/>
          </a:xfrm>
          <a:custGeom xmlns:a="http://schemas.openxmlformats.org/drawingml/2006/main">
            <a:rect l="l" t="t" r="r" b="b"/>
            <a:pathLst>
              <a:path w="1727658" h="341054">
                <a:moveTo>
                  <a:pt x="0" y="0"/>
                </a:moveTo>
                <a:lnTo>
                  <a:pt x="1727658" y="0"/>
                </a:lnTo>
                <a:lnTo>
                  <a:pt x="1727658" y="341054"/>
                </a:lnTo>
                <a:lnTo>
                  <a:pt x="0" y="34105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ADAEA62B-E608-444D-BE06-55777A0F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822" y="6356560"/>
            <a:ext cx="6559700" cy="14396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15D57C0E-13C6-4820-ADE8-6D967C7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30" y="6575689"/>
            <a:ext cx="6006417" cy="615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Need for better focus</a:t>
            </a:r>
          </a:p>
        </p:txBody>
      </p:sp>
      <p:sp>
        <p:nvSpPr>
          <p:cNvPr id="30" name="Freeform 30">
            <a:extLst xmlns:a="http://schemas.openxmlformats.org/drawingml/2006/main">
              <a:ext uri="{FF2B5EF4-FFF2-40B4-BE49-F238E27FC236}">
                <a16:creationId xmlns:a16="http://schemas.microsoft.com/office/drawing/2014/main" id="{6EDA2BE7-DC12-4569-8340-B4E53285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293" y="6011634"/>
            <a:ext cx="6559700" cy="1336820"/>
          </a:xfrm>
          <a:custGeom xmlns:a="http://schemas.openxmlformats.org/drawingml/2006/main">
            <a:rect l="l" t="t" r="r" b="b"/>
            <a:pathLst>
              <a:path w="1727658" h="352084">
                <a:moveTo>
                  <a:pt x="0" y="0"/>
                </a:moveTo>
                <a:lnTo>
                  <a:pt x="1727658" y="0"/>
                </a:lnTo>
                <a:lnTo>
                  <a:pt x="1727658" y="352084"/>
                </a:lnTo>
                <a:lnTo>
                  <a:pt x="0" y="35208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88088B31-A6CF-4887-8463-71C8183E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293" y="5866973"/>
            <a:ext cx="6559700" cy="14814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C512092B-2678-409D-9F6F-6F8E99DC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046" y="6088179"/>
            <a:ext cx="4771054" cy="18466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Apply acquired knowledge.</a:t>
            </a:r>
          </a:p>
          <a:p xmlns:a="http://schemas.openxmlformats.org/drawingml/2006/main">
            <a:pPr algn="l">
              <a:lnSpc>
                <a:spcPts val="4799"/>
              </a:lnSpc>
              <a:buNone/>
            </a:pPr>
            <a:endParaRPr sz="4000" b="1">
              <a:solidFill>
                <a:srgbClr val="FFFFFF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34" name="Freeform 34">
            <a:extLst xmlns:a="http://schemas.openxmlformats.org/drawingml/2006/main">
              <a:ext uri="{FF2B5EF4-FFF2-40B4-BE49-F238E27FC236}">
                <a16:creationId xmlns:a16="http://schemas.microsoft.com/office/drawing/2014/main" id="{70413746-D33F-4084-A41D-BE083940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3118" y="3682705"/>
            <a:ext cx="5990344" cy="1859095"/>
          </a:xfrm>
          <a:custGeom xmlns:a="http://schemas.openxmlformats.org/drawingml/2006/main">
            <a:rect l="l" t="t" r="r" b="b"/>
            <a:pathLst>
              <a:path w="1577704" h="489638">
                <a:moveTo>
                  <a:pt x="0" y="0"/>
                </a:moveTo>
                <a:lnTo>
                  <a:pt x="1577704" y="0"/>
                </a:lnTo>
                <a:lnTo>
                  <a:pt x="1577704" y="489638"/>
                </a:lnTo>
                <a:lnTo>
                  <a:pt x="0" y="489638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8259B088-DCCD-48BC-8D64-77387745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3118" y="3538045"/>
            <a:ext cx="5990344" cy="20037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75AF3D2B-765D-4834-A380-34B89F5F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368" y="3774946"/>
            <a:ext cx="6206757" cy="12311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Need for effective revision</a:t>
            </a:r>
          </a:p>
        </p:txBody>
      </p:sp>
    </p:spTree>
    <p:extLst>
      <p:ext uri="{BB962C8B-B14F-4D97-AF65-F5344CB8AC3E}">
        <p14:creationId xmlns:p14="http://schemas.microsoft.com/office/powerpoint/2010/main" val="5720238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9D2A5EA8-72B3-48A1-81E3-D11A7C51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927000"/>
            <a:ext cx="18288000" cy="360045"/>
          </a:xfrm>
          <a:custGeom xmlns:a="http://schemas.openxmlformats.org/drawingml/2006/main">
            <a:rect l="l" t="t" r="r" b="b"/>
            <a:pathLst>
              <a:path w="24384000" h="480060">
                <a:moveTo>
                  <a:pt x="0" y="0"/>
                </a:moveTo>
                <a:lnTo>
                  <a:pt x="24384000" y="0"/>
                </a:lnTo>
                <a:lnTo>
                  <a:pt x="24384000" y="480060"/>
                </a:lnTo>
                <a:lnTo>
                  <a:pt x="0" y="48006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60049CA3-C8C7-41AE-AA60-EE77F70C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C7BB81BA-655D-4ABF-AF08-F2341F9E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615492"/>
            <a:ext cx="18288000" cy="1490514"/>
          </a:xfrm>
          <a:custGeom xmlns:a="http://schemas.openxmlformats.org/drawingml/2006/main">
            <a:rect l="l" t="t" r="r" b="b"/>
            <a:pathLst>
              <a:path w="24384000" h="1987352">
                <a:moveTo>
                  <a:pt x="0" y="0"/>
                </a:moveTo>
                <a:lnTo>
                  <a:pt x="24384000" y="0"/>
                </a:lnTo>
                <a:lnTo>
                  <a:pt x="24384000" y="1987352"/>
                </a:lnTo>
                <a:lnTo>
                  <a:pt x="0" y="19873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BF209FEF-96A3-4774-BCB7-154D11B1B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94061"/>
            <a:ext cx="18288000" cy="1511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E8692C26-E588-4EB2-AE39-F3CC7B30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81858" y="3600450"/>
            <a:ext cx="3318798" cy="4861848"/>
          </a:xfrm>
          <a:custGeom xmlns:a="http://schemas.openxmlformats.org/drawingml/2006/main">
            <a:rect l="l" t="t" r="r" b="b"/>
            <a:pathLst>
              <a:path w="874087" h="1280487">
                <a:moveTo>
                  <a:pt x="146963" y="0"/>
                </a:moveTo>
                <a:lnTo>
                  <a:pt x="727123" y="0"/>
                </a:lnTo>
                <a:cubicBezTo>
                  <a:pt x="766101" y="0"/>
                  <a:pt x="803481" y="15484"/>
                  <a:pt x="831042" y="43045"/>
                </a:cubicBezTo>
                <a:cubicBezTo>
                  <a:pt x="858603" y="70605"/>
                  <a:pt x="874087" y="107986"/>
                  <a:pt x="874087" y="146963"/>
                </a:cubicBezTo>
                <a:lnTo>
                  <a:pt x="874087" y="1133524"/>
                </a:lnTo>
                <a:cubicBezTo>
                  <a:pt x="874087" y="1172501"/>
                  <a:pt x="858603" y="1209881"/>
                  <a:pt x="831042" y="1237442"/>
                </a:cubicBezTo>
                <a:cubicBezTo>
                  <a:pt x="803481" y="1265003"/>
                  <a:pt x="766101" y="1280487"/>
                  <a:pt x="727123" y="1280487"/>
                </a:cubicBezTo>
                <a:lnTo>
                  <a:pt x="146963" y="1280487"/>
                </a:lnTo>
                <a:cubicBezTo>
                  <a:pt x="107986" y="1280487"/>
                  <a:pt x="70605" y="1265003"/>
                  <a:pt x="43045" y="1237442"/>
                </a:cubicBezTo>
                <a:cubicBezTo>
                  <a:pt x="15484" y="1209881"/>
                  <a:pt x="0" y="1172501"/>
                  <a:pt x="0" y="1133524"/>
                </a:cubicBezTo>
                <a:lnTo>
                  <a:pt x="0" y="146963"/>
                </a:lnTo>
                <a:cubicBezTo>
                  <a:pt x="0" y="107986"/>
                  <a:pt x="15484" y="70605"/>
                  <a:pt x="43045" y="43045"/>
                </a:cubicBezTo>
                <a:cubicBezTo>
                  <a:pt x="70605" y="15484"/>
                  <a:pt x="107986" y="0"/>
                  <a:pt x="146963" y="0"/>
                </a:cubicBez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4B0FB2A0-2064-4402-851A-9858C025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81858" y="3455790"/>
            <a:ext cx="3318798" cy="50065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05F1533-BA4E-4577-9FAF-9DD27010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4601" y="3600450"/>
            <a:ext cx="3318798" cy="4861848"/>
          </a:xfrm>
          <a:custGeom xmlns:a="http://schemas.openxmlformats.org/drawingml/2006/main">
            <a:rect l="l" t="t" r="r" b="b"/>
            <a:pathLst>
              <a:path w="874087" h="1280487">
                <a:moveTo>
                  <a:pt x="146963" y="0"/>
                </a:moveTo>
                <a:lnTo>
                  <a:pt x="727123" y="0"/>
                </a:lnTo>
                <a:cubicBezTo>
                  <a:pt x="766101" y="0"/>
                  <a:pt x="803481" y="15484"/>
                  <a:pt x="831042" y="43045"/>
                </a:cubicBezTo>
                <a:cubicBezTo>
                  <a:pt x="858603" y="70605"/>
                  <a:pt x="874087" y="107986"/>
                  <a:pt x="874087" y="146963"/>
                </a:cubicBezTo>
                <a:lnTo>
                  <a:pt x="874087" y="1133524"/>
                </a:lnTo>
                <a:cubicBezTo>
                  <a:pt x="874087" y="1172501"/>
                  <a:pt x="858603" y="1209881"/>
                  <a:pt x="831042" y="1237442"/>
                </a:cubicBezTo>
                <a:cubicBezTo>
                  <a:pt x="803481" y="1265003"/>
                  <a:pt x="766101" y="1280487"/>
                  <a:pt x="727123" y="1280487"/>
                </a:cubicBezTo>
                <a:lnTo>
                  <a:pt x="146963" y="1280487"/>
                </a:lnTo>
                <a:cubicBezTo>
                  <a:pt x="107986" y="1280487"/>
                  <a:pt x="70605" y="1265003"/>
                  <a:pt x="43045" y="1237442"/>
                </a:cubicBezTo>
                <a:cubicBezTo>
                  <a:pt x="15484" y="1209881"/>
                  <a:pt x="0" y="1172501"/>
                  <a:pt x="0" y="1133524"/>
                </a:cubicBezTo>
                <a:lnTo>
                  <a:pt x="0" y="146963"/>
                </a:lnTo>
                <a:cubicBezTo>
                  <a:pt x="0" y="107986"/>
                  <a:pt x="15484" y="70605"/>
                  <a:pt x="43045" y="43045"/>
                </a:cubicBezTo>
                <a:cubicBezTo>
                  <a:pt x="70605" y="15484"/>
                  <a:pt x="107986" y="0"/>
                  <a:pt x="146963" y="0"/>
                </a:cubicBez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EF48821-0633-4B76-B430-3CCE23BF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4601" y="3455790"/>
            <a:ext cx="3318798" cy="50065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6" name="Freeform 16">
            <a:extLst xmlns:a="http://schemas.openxmlformats.org/drawingml/2006/main">
              <a:ext uri="{FF2B5EF4-FFF2-40B4-BE49-F238E27FC236}">
                <a16:creationId xmlns:a16="http://schemas.microsoft.com/office/drawing/2014/main" id="{420B0002-6FB0-4105-9792-A3B19AEB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87344" y="3600450"/>
            <a:ext cx="3915816" cy="4861848"/>
          </a:xfrm>
          <a:custGeom xmlns:a="http://schemas.openxmlformats.org/drawingml/2006/main">
            <a:rect l="l" t="t" r="r" b="b"/>
            <a:pathLst>
              <a:path w="1031326" h="1280487">
                <a:moveTo>
                  <a:pt x="124557" y="0"/>
                </a:moveTo>
                <a:lnTo>
                  <a:pt x="906769" y="0"/>
                </a:lnTo>
                <a:cubicBezTo>
                  <a:pt x="975560" y="0"/>
                  <a:pt x="1031326" y="55766"/>
                  <a:pt x="1031326" y="124557"/>
                </a:cubicBezTo>
                <a:lnTo>
                  <a:pt x="1031326" y="1155930"/>
                </a:lnTo>
                <a:cubicBezTo>
                  <a:pt x="1031326" y="1224721"/>
                  <a:pt x="975560" y="1280487"/>
                  <a:pt x="906769" y="1280487"/>
                </a:cubicBezTo>
                <a:lnTo>
                  <a:pt x="124557" y="1280487"/>
                </a:lnTo>
                <a:cubicBezTo>
                  <a:pt x="55766" y="1280487"/>
                  <a:pt x="0" y="1224721"/>
                  <a:pt x="0" y="1155930"/>
                </a:cubicBezTo>
                <a:lnTo>
                  <a:pt x="0" y="124557"/>
                </a:lnTo>
                <a:cubicBezTo>
                  <a:pt x="0" y="55766"/>
                  <a:pt x="55766" y="0"/>
                  <a:pt x="124557" y="0"/>
                </a:cubicBez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599736E6-95C8-4047-83F1-3AB1A5B4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787344" y="3455790"/>
            <a:ext cx="3915816" cy="50065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F62F6220-6988-443A-8345-84B66B9B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44131" y="3822856"/>
            <a:ext cx="2994251" cy="4387294"/>
          </a:xfrm>
          <a:custGeom xmlns:a="http://schemas.openxmlformats.org/drawingml/2006/main">
            <a:rect l="l" t="t" r="r" b="b"/>
            <a:pathLst>
              <a:path w="788609" h="1155501">
                <a:moveTo>
                  <a:pt x="258559" y="0"/>
                </a:moveTo>
                <a:lnTo>
                  <a:pt x="530050" y="0"/>
                </a:lnTo>
                <a:cubicBezTo>
                  <a:pt x="672848" y="0"/>
                  <a:pt x="788609" y="115761"/>
                  <a:pt x="788609" y="258559"/>
                </a:cubicBezTo>
                <a:lnTo>
                  <a:pt x="788609" y="896942"/>
                </a:lnTo>
                <a:cubicBezTo>
                  <a:pt x="788609" y="965516"/>
                  <a:pt x="761368" y="1031282"/>
                  <a:pt x="712879" y="1079771"/>
                </a:cubicBezTo>
                <a:cubicBezTo>
                  <a:pt x="664390" y="1128260"/>
                  <a:pt x="598624" y="1155501"/>
                  <a:pt x="530050" y="1155501"/>
                </a:cubicBezTo>
                <a:lnTo>
                  <a:pt x="258559" y="1155501"/>
                </a:lnTo>
                <a:cubicBezTo>
                  <a:pt x="189985" y="1155501"/>
                  <a:pt x="124220" y="1128260"/>
                  <a:pt x="75730" y="1079771"/>
                </a:cubicBezTo>
                <a:cubicBezTo>
                  <a:pt x="27241" y="1031282"/>
                  <a:pt x="0" y="965516"/>
                  <a:pt x="0" y="896942"/>
                </a:cubicBezTo>
                <a:lnTo>
                  <a:pt x="0" y="258559"/>
                </a:lnTo>
                <a:cubicBezTo>
                  <a:pt x="0" y="189985"/>
                  <a:pt x="27241" y="124220"/>
                  <a:pt x="75730" y="75730"/>
                </a:cubicBezTo>
                <a:cubicBezTo>
                  <a:pt x="124220" y="27241"/>
                  <a:pt x="189985" y="0"/>
                  <a:pt x="258559" y="0"/>
                </a:cubicBezTo>
                <a:close/>
              </a:path>
            </a:pathLst>
          </a:custGeom>
          <a:solidFill xmlns:a="http://schemas.openxmlformats.org/drawingml/2006/main">
            <a:srgbClr val="FFF3C2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B42852EE-8E78-4CFC-8555-071D466B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44131" y="3678196"/>
            <a:ext cx="2994251" cy="453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2" name="Freeform 22">
            <a:extLst xmlns:a="http://schemas.openxmlformats.org/drawingml/2006/main">
              <a:ext uri="{FF2B5EF4-FFF2-40B4-BE49-F238E27FC236}">
                <a16:creationId xmlns:a16="http://schemas.microsoft.com/office/drawing/2014/main" id="{51F263A3-2784-4635-9425-6778DD22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6875" y="3837727"/>
            <a:ext cx="2994251" cy="4387294"/>
          </a:xfrm>
          <a:custGeom xmlns:a="http://schemas.openxmlformats.org/drawingml/2006/main">
            <a:rect l="l" t="t" r="r" b="b"/>
            <a:pathLst>
              <a:path w="788609" h="1155501">
                <a:moveTo>
                  <a:pt x="258559" y="0"/>
                </a:moveTo>
                <a:lnTo>
                  <a:pt x="530050" y="0"/>
                </a:lnTo>
                <a:cubicBezTo>
                  <a:pt x="672848" y="0"/>
                  <a:pt x="788609" y="115761"/>
                  <a:pt x="788609" y="258559"/>
                </a:cubicBezTo>
                <a:lnTo>
                  <a:pt x="788609" y="896942"/>
                </a:lnTo>
                <a:cubicBezTo>
                  <a:pt x="788609" y="965516"/>
                  <a:pt x="761368" y="1031282"/>
                  <a:pt x="712879" y="1079771"/>
                </a:cubicBezTo>
                <a:cubicBezTo>
                  <a:pt x="664390" y="1128260"/>
                  <a:pt x="598624" y="1155501"/>
                  <a:pt x="530050" y="1155501"/>
                </a:cubicBezTo>
                <a:lnTo>
                  <a:pt x="258559" y="1155501"/>
                </a:lnTo>
                <a:cubicBezTo>
                  <a:pt x="189985" y="1155501"/>
                  <a:pt x="124220" y="1128260"/>
                  <a:pt x="75730" y="1079771"/>
                </a:cubicBezTo>
                <a:cubicBezTo>
                  <a:pt x="27241" y="1031282"/>
                  <a:pt x="0" y="965516"/>
                  <a:pt x="0" y="896942"/>
                </a:cubicBezTo>
                <a:lnTo>
                  <a:pt x="0" y="258559"/>
                </a:lnTo>
                <a:cubicBezTo>
                  <a:pt x="0" y="189985"/>
                  <a:pt x="27241" y="124220"/>
                  <a:pt x="75730" y="75730"/>
                </a:cubicBezTo>
                <a:cubicBezTo>
                  <a:pt x="124220" y="27241"/>
                  <a:pt x="189985" y="0"/>
                  <a:pt x="258559" y="0"/>
                </a:cubicBezTo>
                <a:close/>
              </a:path>
            </a:pathLst>
          </a:custGeom>
          <a:solidFill xmlns:a="http://schemas.openxmlformats.org/drawingml/2006/main">
            <a:srgbClr val="FFF3C2"/>
          </a:solidFill>
        </p:spPr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7A05F6A3-5195-4C1A-B1F2-C786E2AA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46875" y="3693067"/>
            <a:ext cx="2994251" cy="453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5" name="Freeform 25">
            <a:extLst xmlns:a="http://schemas.openxmlformats.org/drawingml/2006/main">
              <a:ext uri="{FF2B5EF4-FFF2-40B4-BE49-F238E27FC236}">
                <a16:creationId xmlns:a16="http://schemas.microsoft.com/office/drawing/2014/main" id="{FEFBC25F-6446-4F40-9C3A-A94037B9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9618" y="3822856"/>
            <a:ext cx="3585153" cy="4387294"/>
          </a:xfrm>
          <a:custGeom xmlns:a="http://schemas.openxmlformats.org/drawingml/2006/main">
            <a:rect l="l" t="t" r="r" b="b"/>
            <a:pathLst>
              <a:path w="944238" h="1155501">
                <a:moveTo>
                  <a:pt x="215944" y="0"/>
                </a:moveTo>
                <a:lnTo>
                  <a:pt x="728294" y="0"/>
                </a:lnTo>
                <a:cubicBezTo>
                  <a:pt x="847556" y="0"/>
                  <a:pt x="944238" y="96681"/>
                  <a:pt x="944238" y="215944"/>
                </a:cubicBezTo>
                <a:lnTo>
                  <a:pt x="944238" y="939557"/>
                </a:lnTo>
                <a:cubicBezTo>
                  <a:pt x="944238" y="1058820"/>
                  <a:pt x="847556" y="1155501"/>
                  <a:pt x="728294" y="1155501"/>
                </a:cubicBezTo>
                <a:lnTo>
                  <a:pt x="215944" y="1155501"/>
                </a:lnTo>
                <a:cubicBezTo>
                  <a:pt x="96681" y="1155501"/>
                  <a:pt x="0" y="1058820"/>
                  <a:pt x="0" y="939557"/>
                </a:cubicBezTo>
                <a:lnTo>
                  <a:pt x="0" y="215944"/>
                </a:lnTo>
                <a:cubicBezTo>
                  <a:pt x="0" y="96681"/>
                  <a:pt x="96681" y="0"/>
                  <a:pt x="215944" y="0"/>
                </a:cubicBezTo>
                <a:close/>
              </a:path>
            </a:pathLst>
          </a:custGeom>
          <a:solidFill xmlns:a="http://schemas.openxmlformats.org/drawingml/2006/main">
            <a:srgbClr val="FFF3C2"/>
          </a:solidFill>
        </p:spPr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44894645-CAED-4335-8C0A-52F3A2FD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49618" y="3678196"/>
            <a:ext cx="3585153" cy="453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7" name="TextBox 27">
            <a:extLst xmlns:a="http://schemas.openxmlformats.org/drawingml/2006/main">
              <a:ext uri="{FF2B5EF4-FFF2-40B4-BE49-F238E27FC236}">
                <a16:creationId xmlns:a16="http://schemas.microsoft.com/office/drawing/2014/main" id="{38B9DDB0-D769-489B-AF81-432451C4D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402" y="4203514"/>
            <a:ext cx="3271075" cy="30008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06744" lvl="1" indent="-353372" algn="l">
              <a:lnSpc>
                <a:spcPts val="3928"/>
              </a:lnSpc>
              <a:buFont typeface="Arial"/>
              <a:buChar char="•"/>
            </a:pPr>
            <a:r>
              <a:rPr sz="3273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Manage study folders</a:t>
            </a:r>
          </a:p>
          <a:p xmlns:a="http://schemas.openxmlformats.org/drawingml/2006/main">
            <a:pPr marL="706744" lvl="1" indent="-353372" algn="l">
              <a:lnSpc>
                <a:spcPts val="3928"/>
              </a:lnSpc>
              <a:buFont typeface="Arial"/>
              <a:buChar char="•"/>
            </a:pPr>
            <a:r>
              <a:rPr sz="3273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Create, edit, delete, and view notes</a:t>
            </a:r>
          </a:p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0CBB984-99E5-4672-A23D-5F4A51DC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4601" y="4000500"/>
            <a:ext cx="3288134" cy="3966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06744" lvl="1" indent="-353372" algn="l">
              <a:lnSpc>
                <a:spcPts val="3928"/>
              </a:lnSpc>
              <a:buFont typeface="Arial"/>
              <a:buChar char="•"/>
            </a:pPr>
            <a:r>
              <a:rPr sz="3273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Create and review flashcards</a:t>
            </a:r>
          </a:p>
          <a:p xmlns:a="http://schemas.openxmlformats.org/drawingml/2006/main">
            <a:pPr marL="706744" lvl="1" indent="-353372" algn="l">
              <a:lnSpc>
                <a:spcPts val="3928"/>
              </a:lnSpc>
              <a:buFont typeface="Arial"/>
              <a:buChar char="•"/>
            </a:pPr>
            <a:r>
              <a:rPr sz="31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Support focused study sessions with Pomodoro</a:t>
            </a:r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6440E1-C020-4ADB-81D8-A13BD07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1986" y="4203514"/>
            <a:ext cx="3852785" cy="35009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06744" lvl="1" indent="-353372" algn="l">
              <a:lnSpc>
                <a:spcPts val="3928"/>
              </a:lnSpc>
              <a:buFont typeface="Arial"/>
              <a:buChar char="•"/>
            </a:pPr>
            <a:r>
              <a:rPr sz="3273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Store data using PHP API and MySQL</a:t>
            </a:r>
          </a:p>
          <a:p xmlns:a="http://schemas.openxmlformats.org/drawingml/2006/main">
            <a:pPr marL="706744" lvl="1" indent="-353372" algn="l">
              <a:lnSpc>
                <a:spcPts val="3928"/>
              </a:lnSpc>
              <a:buFont typeface="Arial"/>
              <a:buChar char="•"/>
            </a:pPr>
            <a:r>
              <a:rPr sz="3273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Build a simple, clean, and user-friendly interface</a:t>
            </a:r>
          </a:p>
        </p:txBody>
      </p:sp>
    </p:spTree>
    <p:extLst>
      <p:ext uri="{BB962C8B-B14F-4D97-AF65-F5344CB8AC3E}">
        <p14:creationId xmlns:p14="http://schemas.microsoft.com/office/powerpoint/2010/main" val="197406157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48B5F299-72EC-4BF2-8B1F-E5411088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927000"/>
            <a:ext cx="18288000" cy="360045"/>
          </a:xfrm>
          <a:custGeom xmlns:a="http://schemas.openxmlformats.org/drawingml/2006/main">
            <a:rect l="l" t="t" r="r" b="b"/>
            <a:pathLst>
              <a:path w="24384000" h="480060">
                <a:moveTo>
                  <a:pt x="0" y="0"/>
                </a:moveTo>
                <a:lnTo>
                  <a:pt x="24384000" y="0"/>
                </a:lnTo>
                <a:lnTo>
                  <a:pt x="24384000" y="480060"/>
                </a:lnTo>
                <a:lnTo>
                  <a:pt x="0" y="48006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B66AFFC6-FFAA-44F6-BD65-4C25E9649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09EE785D-A81D-4E78-8674-E02CAC4B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63458"/>
            <a:ext cx="18288000" cy="1490514"/>
          </a:xfrm>
          <a:custGeom xmlns:a="http://schemas.openxmlformats.org/drawingml/2006/main">
            <a:rect l="l" t="t" r="r" b="b"/>
            <a:pathLst>
              <a:path w="24384000" h="1987352">
                <a:moveTo>
                  <a:pt x="0" y="0"/>
                </a:moveTo>
                <a:lnTo>
                  <a:pt x="24384000" y="0"/>
                </a:lnTo>
                <a:lnTo>
                  <a:pt x="24384000" y="1987352"/>
                </a:lnTo>
                <a:lnTo>
                  <a:pt x="0" y="19873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87BD377A-C0E9-4962-A73C-5A425A7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42027"/>
            <a:ext cx="18288000" cy="1511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Technologies Used</a:t>
            </a:r>
          </a:p>
        </p:txBody>
      </p:sp>
      <p:graphicFrame>
        <p:nvGraphicFramePr>
          <p:cNvPr id="22" name="Table 9"/>
          <p:cNvGraphicFramePr/>
          <p:nvPr/>
        </p:nvGraphicFramePr>
        <p:xfrm>
          <a:off xmlns:a="http://schemas.openxmlformats.org/drawingml/2006/main" x="1510256" y="2721901"/>
          <a:ext xmlns:a="http://schemas.openxmlformats.org/drawingml/2006/main" cx="3454400" cy="683727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644"/>
                <a:gridCol w="2474986"/>
                <a:gridCol w="483770"/>
              </a:tblGrid>
              <a:tr h="586759">
                <a:tc gridSpan="3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Client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9050" cmpd="sng">
                      <a:solidFill>
                        <a:srgbClr val="32AEB8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Server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9050" cmpd="sng">
                      <a:solidFill>
                        <a:srgbClr val="32AEB8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Server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9050" cmpd="sng">
                      <a:solidFill>
                        <a:srgbClr val="32AEB8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69856">
                <a:tc gridSpan="3"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   Android App</a:t>
                      </a:r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32AEB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   Node.js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32AEB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   Node.js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32AEB8"/>
                    </a:solidFill>
                  </a:tcPr>
                </a:tc>
              </a:tr>
              <a:tr h="1487719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Kotlin</a:t>
                      </a:r>
                    </a:p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XML Layout</a:t>
                      </a:r>
                    </a:p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RecyclerView</a:t>
                      </a:r>
                      <a:endParaRPr sz="2400" b="1">
                        <a:solidFill>
                          <a:srgbClr val="404040"/>
                        </a:solidFill>
                        <a:latin typeface="Arial Bold"/>
                        <a:ea typeface="Arial Bold"/>
                        <a:cs typeface="Arial Bold"/>
                      </a:endParaRPr>
                    </a:p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ViewBinding</a:t>
                      </a: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26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530860" lvl="1" indent="-265430" algn="l">
                        <a:lnSpc>
                          <a:spcPts val="2640"/>
                        </a:lnSpc>
                        <a:buNone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• Build Android screens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None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• Handle user actions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None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• Display folders and notes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8261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buNone/>
                      </a:pPr>
                      <a:endParaRPr sz="1100"/>
                    </a:p>
                    <a:p>
                      <a:pPr algn="l">
                        <a:lnSpc>
                          <a:spcPts val="2640"/>
                        </a:lnSpc>
                        <a:buNone/>
                      </a:pPr>
                      <a:endParaRPr sz="1100"/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Handling REST API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Routing request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None/>
                      </a:pPr>
                      <a:endParaRPr sz="2200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754925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buNone/>
                      </a:pPr>
                      <a:endParaRPr sz="1100"/>
                    </a:p>
                    <a:p>
                      <a:pPr algn="l">
                        <a:lnSpc>
                          <a:spcPts val="2640"/>
                        </a:lnSpc>
                        <a:buNone/>
                      </a:pPr>
                      <a:endParaRPr sz="1100"/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Handling REST API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Routing request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None/>
                      </a:pPr>
                      <a:endParaRPr sz="2200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7104">
                <a:tc gridSpan="3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32AE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32AE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32AE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0"/>
          <p:cNvGraphicFramePr/>
          <p:nvPr/>
        </p:nvGraphicFramePr>
        <p:xfrm>
          <a:off xmlns:a="http://schemas.openxmlformats.org/drawingml/2006/main" x="9383128" y="2721900"/>
          <a:ext xmlns:a="http://schemas.openxmlformats.org/drawingml/2006/main" cx="3454400" cy="6801643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644"/>
                <a:gridCol w="2474986"/>
                <a:gridCol w="483770"/>
              </a:tblGrid>
              <a:tr h="579655">
                <a:tc gridSpan="3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Database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9050" cmpd="sng">
                      <a:solidFill>
                        <a:srgbClr val="32AEB8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Database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9050" cmpd="sng">
                      <a:solidFill>
                        <a:srgbClr val="32AEB8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Database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9050" cmpd="sng">
                      <a:solidFill>
                        <a:srgbClr val="32AEB8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50441">
                <a:tc gridSpan="3"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ts val="335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MySQL</a:t>
                      </a:r>
                      <a:endParaRPr sz="28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32AEB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MongoDB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32AEB8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MongoDB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32AEB8"/>
                    </a:solidFill>
                  </a:tcPr>
                </a:tc>
              </a:tr>
              <a:tr h="96775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MySQL</a:t>
                      </a:r>
                    </a:p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phpMyAdmin</a:t>
                      </a: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893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237489" lvl="1" indent="0" algn="l">
                        <a:lnSpc>
                          <a:spcPts val="2639"/>
                        </a:lnSpc>
                        <a:buFont typeface="Arial"/>
                        <a:buNone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• Store folders</a:t>
                      </a:r>
                    </a:p>
                    <a:p>
                      <a:pPr marL="237489" lvl="1" indent="0" algn="l">
                        <a:lnSpc>
                          <a:spcPts val="2639"/>
                        </a:lnSpc>
                        <a:buFont typeface="Arial"/>
                        <a:buNone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• Store notes</a:t>
                      </a:r>
                    </a:p>
                    <a:p>
                      <a:pPr marL="474979" lvl="1" indent="-23749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Store flashcards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893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474979" lvl="1" indent="-23749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NoSQL Storage</a:t>
                      </a:r>
                      <a:endParaRPr sz="1100"/>
                    </a:p>
                    <a:p>
                      <a:pPr marL="474979" lvl="1" indent="-23749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Schema Management</a:t>
                      </a:r>
                    </a:p>
                    <a:p>
                      <a:pPr marL="474979" lvl="1" indent="-23749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Cloud Deployment (Atlas)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1371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474979" lvl="1" indent="-23749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NoSQL Storage</a:t>
                      </a:r>
                      <a:endParaRPr sz="1100"/>
                    </a:p>
                    <a:p>
                      <a:pPr marL="474979" lvl="1" indent="-23749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Schema Management</a:t>
                      </a:r>
                    </a:p>
                    <a:p>
                      <a:pPr marL="474979" lvl="1" indent="-23749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Cloud Deployment (Atlas)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94285">
                <a:tc gridSpan="3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32AE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32AE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32AEB8"/>
                      </a:solidFill>
                      <a:prstDash val="solid"/>
                    </a:lnL>
                    <a:lnR w="19050" cmpd="sng">
                      <a:solidFill>
                        <a:srgbClr val="32AEB8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32AEB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11"/>
          <p:cNvGraphicFramePr/>
          <p:nvPr/>
        </p:nvGraphicFramePr>
        <p:xfrm>
          <a:off xmlns:a="http://schemas.openxmlformats.org/drawingml/2006/main" x="5446692" y="2721900"/>
          <a:ext xmlns:a="http://schemas.openxmlformats.org/drawingml/2006/main" cx="3454400" cy="6779891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644"/>
                <a:gridCol w="2474986"/>
                <a:gridCol w="483770"/>
              </a:tblGrid>
              <a:tr h="592800">
                <a:tc gridSpan="3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API Server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9050" cmpd="sng">
                      <a:solidFill>
                        <a:srgbClr val="F2A40D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Client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9050" cmpd="sng">
                      <a:solidFill>
                        <a:srgbClr val="F2A40D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Client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9050" cmpd="sng">
                      <a:solidFill>
                        <a:srgbClr val="F2A40D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41012">
                <a:tc gridSpan="3"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PHP API</a:t>
                      </a:r>
                      <a:endParaRPr sz="28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A40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ReactJS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A40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  </a:t>
                      </a: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ReactJS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A40D"/>
                    </a:solidFill>
                  </a:tcPr>
                </a:tc>
              </a:tr>
              <a:tr h="1114940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/>
                        <a:t>PHP</a:t>
                      </a:r>
                      <a:br/>
                      <a:r>
                        <a:rPr sz="2400" b="1"/>
                        <a:t>Apache</a:t>
                      </a:r>
                      <a:br/>
                      <a:r>
                        <a:rPr sz="2400" b="1"/>
                        <a:t>JSON</a:t>
                      </a:r>
                      <a:endParaRPr sz="1100" b="1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3912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Handle app requests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Add, edit, delete data</a:t>
                      </a:r>
                    </a:p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Return JSON responses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749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SPA Interface</a:t>
                      </a:r>
                      <a:endParaRPr sz="1100"/>
                    </a:p>
                    <a:p>
                      <a:pPr marL="530859" lvl="1" indent="-265430" algn="just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Call API with Axios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Bootstrap5 to responsive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77876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530860" lvl="1" indent="-265430" algn="l">
                        <a:lnSpc>
                          <a:spcPts val="2640"/>
                        </a:lnSpc>
                        <a:buFont typeface="Arial"/>
                        <a:buChar char="•"/>
                      </a:pPr>
                      <a:r>
                        <a:rPr sz="2200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SPA Interface</a:t>
                      </a:r>
                      <a:endParaRPr sz="1100"/>
                    </a:p>
                    <a:p>
                      <a:pPr marL="530859" lvl="1" indent="-265430" algn="just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Call API with Axios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Bootstrap5 to responsive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2091">
                <a:tc gridSpan="3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F2A40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F2A40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F2A40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A62BC70A-7EF0-45C3-B925-6B737DF4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6446" y="3813616"/>
            <a:ext cx="810658" cy="817428"/>
          </a:xfrm>
          <a:custGeom xmlns:a="http://schemas.openxmlformats.org/drawingml/2006/main">
            <a:rect l="l" t="t" r="r" b="b"/>
            <a:pathLst>
              <a:path w="810658" h="817428">
                <a:moveTo>
                  <a:pt x="0" y="0"/>
                </a:moveTo>
                <a:lnTo>
                  <a:pt x="810658" y="0"/>
                </a:lnTo>
                <a:lnTo>
                  <a:pt x="810658" y="817428"/>
                </a:lnTo>
                <a:lnTo>
                  <a:pt x="0" y="81742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63d60d7277314b66">
              <a:extLst>
                <a:ext uri="{96DAC541-7B7A-43D3-8B79-37D633B846F1}">
                  <asvg:svgBlip xmlns:asvg="http://schemas.microsoft.com/office/drawing/2016/SVG/main" r:embed="R179a0db4329a490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10E9860C-FD2C-419F-B10F-D7F7D4FD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7030" y="4955271"/>
            <a:ext cx="3129488" cy="30574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2879"/>
              </a:lnSpc>
              <a:buNone/>
            </a:pPr>
            <a:r>
              <a:rPr sz="2400">
                <a:solidFill>
                  <a:srgbClr val="FFFFFF"/>
                </a:solidFill>
                <a:latin typeface="Arial"/>
                <a:ea typeface="Arial"/>
                <a:cs typeface="Arial"/>
              </a:rPr>
              <a:t>Easy to change colors, photos and Text. You can simply impress your audience and add a unique zing and appeal to your Presentations. </a:t>
            </a:r>
          </a:p>
        </p:txBody>
      </p:sp>
      <p:graphicFrame>
        <p:nvGraphicFramePr>
          <p:cNvPr id="27" name="Table 18"/>
          <p:cNvGraphicFramePr/>
          <p:nvPr/>
        </p:nvGraphicFramePr>
        <p:xfrm>
          <a:off xmlns:a="http://schemas.openxmlformats.org/drawingml/2006/main" x="13464574" y="2730430"/>
          <a:ext xmlns:a="http://schemas.openxmlformats.org/drawingml/2006/main" cx="3454400" cy="6680969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644"/>
                <a:gridCol w="2474986"/>
                <a:gridCol w="483770"/>
              </a:tblGrid>
              <a:tr h="642166">
                <a:tc gridSpan="3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Deploy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9050" cmpd="sng">
                      <a:solidFill>
                        <a:srgbClr val="F2A40D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Deploy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9050" cmpd="sng">
                      <a:solidFill>
                        <a:srgbClr val="F2A40D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Deploy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9050" cmpd="sng">
                      <a:solidFill>
                        <a:srgbClr val="F2A40D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90098">
                <a:tc gridSpan="3">
                  <a:txBody>
                    <a:bodyPr/>
                    <a:lstStyle/>
                    <a:p>
                      <a:pPr algn="ctr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XAMPP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A40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    Render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A40D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3359"/>
                        </a:lnSpc>
                        <a:buNone/>
                      </a:pPr>
                      <a:r>
                        <a:rPr sz="2799" b="1">
                          <a:solidFill>
                            <a:srgbClr val="FFFFFF"/>
                          </a:solidFill>
                          <a:latin typeface="Arial Bold"/>
                          <a:ea typeface="Arial Bold"/>
                          <a:cs typeface="Arial Bold"/>
                        </a:rPr>
                        <a:t>    Render</a:t>
                      </a: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2A40D"/>
                    </a:solidFill>
                  </a:tcPr>
                </a:tc>
              </a:tr>
              <a:tr h="75533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879"/>
                        </a:lnSpc>
                        <a:buNone/>
                      </a:pPr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XAMPP</a:t>
                      </a:r>
                      <a:br/>
                      <a:r>
                        <a:rPr sz="2400" b="1">
                          <a:solidFill>
                            <a:srgbClr val="404040"/>
                          </a:solidFill>
                          <a:latin typeface="Arial Bold"/>
                          <a:ea typeface="Arial Bold"/>
                          <a:cs typeface="Arial Bold"/>
                        </a:rPr>
                        <a:t>Retrofit</a:t>
                      </a: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3404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buNone/>
                      </a:pPr>
                      <a:endParaRPr sz="1100"/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Run Apache and MySQL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Connect Android to API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Test on Emulator</a:t>
                      </a: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3404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buNone/>
                      </a:pPr>
                      <a:endParaRPr sz="1100"/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Deploy backend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Hosting support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Free &amp; SSL available</a:t>
                      </a:r>
                    </a:p>
                    <a:p>
                      <a:pPr algn="l">
                        <a:lnSpc>
                          <a:spcPts val="2639"/>
                        </a:lnSpc>
                        <a:buNone/>
                      </a:pPr>
                      <a:endParaRPr sz="2199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134688"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>
                        <a:lnSpc>
                          <a:spcPts val="2640"/>
                        </a:lnSpc>
                        <a:buNone/>
                      </a:pPr>
                      <a:endParaRPr sz="1100"/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Deploy backend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Hosting support</a:t>
                      </a:r>
                    </a:p>
                    <a:p>
                      <a:pPr marL="530859" lvl="1" indent="-265430" algn="l">
                        <a:lnSpc>
                          <a:spcPts val="2639"/>
                        </a:lnSpc>
                        <a:buFont typeface="Arial"/>
                        <a:buChar char="•"/>
                      </a:pPr>
                      <a:r>
                        <a:rPr sz="2199">
                          <a:solidFill>
                            <a:srgbClr val="404040"/>
                          </a:solidFill>
                          <a:latin typeface="Arial"/>
                          <a:ea typeface="Arial"/>
                          <a:cs typeface="Arial"/>
                        </a:rPr>
                        <a:t>Free &amp; SSL available</a:t>
                      </a:r>
                    </a:p>
                    <a:p>
                      <a:pPr algn="l">
                        <a:lnSpc>
                          <a:spcPts val="2639"/>
                        </a:lnSpc>
                        <a:buNone/>
                      </a:pPr>
                      <a:endParaRPr sz="2199">
                        <a:solidFill>
                          <a:srgbClr val="40404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2700" cmpd="sng">
                      <a:solidFill>
                        <a:srgbClr val="000000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2700" cmpd="sng">
                      <a:solidFill>
                        <a:srgbClr val="000000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27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9389">
                <a:tc gridSpan="3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F2A40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F2A40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buNone/>
                      </a:pPr>
                      <a:endParaRPr sz="1100"/>
                    </a:p>
                  </a:txBody>
                  <a:tcPr marL="91440" marR="91440" marT="91440" marB="91440" anchor="ctr">
                    <a:lnL w="19050" cmpd="sng">
                      <a:solidFill>
                        <a:srgbClr val="F2A40D"/>
                      </a:solidFill>
                      <a:prstDash val="solid"/>
                    </a:lnL>
                    <a:lnR w="19050" cmpd="sng">
                      <a:solidFill>
                        <a:srgbClr val="F2A40D"/>
                      </a:solidFill>
                      <a:prstDash val="solid"/>
                    </a:lnR>
                    <a:lnT w="12700" cmpd="sng">
                      <a:solidFill>
                        <a:srgbClr val="000000"/>
                      </a:solidFill>
                      <a:prstDash val="solid"/>
                    </a:lnT>
                    <a:lnB w="19050" cmpd="sng">
                      <a:solidFill>
                        <a:srgbClr val="F2A40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22846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54F90661-85B1-4A98-A736-6AD87280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927000"/>
            <a:ext cx="18288000" cy="360045"/>
          </a:xfrm>
          <a:custGeom xmlns:a="http://schemas.openxmlformats.org/drawingml/2006/main">
            <a:rect l="l" t="t" r="r" b="b"/>
            <a:pathLst>
              <a:path w="24384000" h="480060">
                <a:moveTo>
                  <a:pt x="0" y="0"/>
                </a:moveTo>
                <a:lnTo>
                  <a:pt x="24384000" y="0"/>
                </a:lnTo>
                <a:lnTo>
                  <a:pt x="24384000" y="480060"/>
                </a:lnTo>
                <a:lnTo>
                  <a:pt x="0" y="48006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9272BE6-6278-451C-9A27-56A0F6FB5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6DB5F468-060A-42B9-AA27-C3917338D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379746"/>
            <a:ext cx="18288000" cy="1490514"/>
          </a:xfrm>
          <a:custGeom xmlns:a="http://schemas.openxmlformats.org/drawingml/2006/main">
            <a:rect l="l" t="t" r="r" b="b"/>
            <a:pathLst>
              <a:path w="24384000" h="1987352">
                <a:moveTo>
                  <a:pt x="0" y="0"/>
                </a:moveTo>
                <a:lnTo>
                  <a:pt x="24384000" y="0"/>
                </a:lnTo>
                <a:lnTo>
                  <a:pt x="24384000" y="1987352"/>
                </a:lnTo>
                <a:lnTo>
                  <a:pt x="0" y="19873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1CDF6994-F0DF-46CD-862D-08B51920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358315"/>
            <a:ext cx="18288000" cy="1511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System Analysis -Use Case</a:t>
            </a:r>
          </a:p>
        </p:txBody>
      </p:sp>
      <p:sp>
        <p:nvSpPr>
          <p:cNvPr id="10" name="Freeform 10">
            <a:extLst xmlns:a="http://schemas.openxmlformats.org/drawingml/2006/main">
              <a:ext uri="{FF2B5EF4-FFF2-40B4-BE49-F238E27FC236}">
                <a16:creationId xmlns:a16="http://schemas.microsoft.com/office/drawing/2014/main" id="{90A67DA9-6EE3-4E03-8A60-6D8A8CF1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513" y="1769226"/>
            <a:ext cx="5076162" cy="7602010"/>
          </a:xfrm>
          <a:custGeom xmlns:a="http://schemas.openxmlformats.org/drawingml/2006/main">
            <a:rect l="l" t="t" r="r" b="b"/>
            <a:pathLst>
              <a:path w="1336932" h="2002175">
                <a:moveTo>
                  <a:pt x="44229" y="0"/>
                </a:moveTo>
                <a:lnTo>
                  <a:pt x="1292702" y="0"/>
                </a:lnTo>
                <a:cubicBezTo>
                  <a:pt x="1304432" y="0"/>
                  <a:pt x="1315682" y="4660"/>
                  <a:pt x="1323977" y="12954"/>
                </a:cubicBezTo>
                <a:cubicBezTo>
                  <a:pt x="1332272" y="21249"/>
                  <a:pt x="1336932" y="32499"/>
                  <a:pt x="1336932" y="44229"/>
                </a:cubicBezTo>
                <a:lnTo>
                  <a:pt x="1336932" y="1957946"/>
                </a:lnTo>
                <a:cubicBezTo>
                  <a:pt x="1336932" y="1969676"/>
                  <a:pt x="1332272" y="1980926"/>
                  <a:pt x="1323977" y="1989221"/>
                </a:cubicBezTo>
                <a:cubicBezTo>
                  <a:pt x="1315682" y="1997516"/>
                  <a:pt x="1304432" y="2002175"/>
                  <a:pt x="1292702" y="2002175"/>
                </a:cubicBezTo>
                <a:lnTo>
                  <a:pt x="44229" y="2002175"/>
                </a:lnTo>
                <a:cubicBezTo>
                  <a:pt x="32499" y="2002175"/>
                  <a:pt x="21249" y="1997516"/>
                  <a:pt x="12954" y="1989221"/>
                </a:cubicBezTo>
                <a:cubicBezTo>
                  <a:pt x="4660" y="1980926"/>
                  <a:pt x="0" y="1969676"/>
                  <a:pt x="0" y="1957946"/>
                </a:cubicBezTo>
                <a:lnTo>
                  <a:pt x="0" y="44229"/>
                </a:lnTo>
                <a:cubicBezTo>
                  <a:pt x="0" y="32499"/>
                  <a:pt x="4660" y="21249"/>
                  <a:pt x="12954" y="12954"/>
                </a:cubicBezTo>
                <a:cubicBezTo>
                  <a:pt x="21249" y="4660"/>
                  <a:pt x="32499" y="0"/>
                  <a:pt x="44229" y="0"/>
                </a:cubicBez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11" name="TextBox 11">
            <a:extLst xmlns:a="http://schemas.openxmlformats.org/drawingml/2006/main">
              <a:ext uri="{FF2B5EF4-FFF2-40B4-BE49-F238E27FC236}">
                <a16:creationId xmlns:a16="http://schemas.microsoft.com/office/drawing/2014/main" id="{047783E4-141C-4F70-8CC9-E89A03016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2513" y="1624566"/>
            <a:ext cx="5076162" cy="77466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spcBef>
                <a:spcPct val="0"/>
              </a:spcBef>
              <a:buNone/>
            </a:pPr>
            <a:endParaRPr/>
          </a:p>
        </p:txBody>
      </p:sp>
      <p:sp>
        <p:nvSpPr>
          <p:cNvPr id="13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27FDC6-2037-4682-AFEA-8EC159F60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032" y="8648700"/>
            <a:ext cx="4461123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99"/>
              </a:lnSpc>
              <a:spcBef>
                <a:spcPct val="0"/>
              </a:spcBef>
              <a:buNone/>
            </a:pPr>
            <a:r>
              <a:rPr sz="3999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Use Case Diagram</a:t>
            </a:r>
          </a:p>
        </p:txBody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075BC831-83BD-47DC-A611-12DB59DF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286" y="2445863"/>
            <a:ext cx="11215626" cy="615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799"/>
              </a:lnSpc>
              <a:buNone/>
            </a:pPr>
            <a:r>
              <a:rPr sz="3999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Main Actor: User / Student</a:t>
            </a:r>
          </a:p>
          <a:p xmlns:a="http://schemas.openxmlformats.org/drawingml/2006/main">
            <a:pPr algn="l">
              <a:lnSpc>
                <a:spcPts val="4799"/>
              </a:lnSpc>
              <a:buNone/>
            </a:pPr>
            <a:r>
              <a:rPr sz="3999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The user can perform the following functions:</a:t>
            </a:r>
          </a:p>
          <a:p xmlns:a="http://schemas.openxmlformats.org/drawingml/2006/main">
            <a:pPr marL="571500" indent="-571500">
              <a:lnSpc>
                <a:spcPts val="4799"/>
              </a:lnSpc>
              <a:buFont typeface="Arial"/>
              <a:buChar char="•"/>
            </a:pPr>
            <a:r>
              <a:rPr sz="4000"/>
              <a:t>Manage</a:t>
            </a:r>
            <a:r>
              <a:rPr sz="4000"/>
              <a:t> </a:t>
            </a:r>
            <a:r>
              <a:rPr sz="4000"/>
              <a:t>study</a:t>
            </a:r>
            <a:r>
              <a:rPr sz="4000"/>
              <a:t> </a:t>
            </a:r>
            <a:r>
              <a:rPr sz="4000"/>
              <a:t>folders</a:t>
            </a:r>
            <a:r>
              <a:rPr sz="4000"/>
              <a:t>.</a:t>
            </a:r>
            <a:endParaRPr sz="4000"/>
          </a:p>
          <a:p xmlns:a="http://schemas.openxmlformats.org/drawingml/2006/main">
            <a:pPr marL="571500" indent="-571500">
              <a:lnSpc>
                <a:spcPts val="4799"/>
              </a:lnSpc>
              <a:buFont typeface="Arial"/>
              <a:buChar char="•"/>
            </a:pPr>
            <a:r>
              <a:rPr sz="4000"/>
              <a:t>Add</a:t>
            </a:r>
            <a:r>
              <a:rPr sz="4000"/>
              <a:t>, </a:t>
            </a:r>
            <a:r>
              <a:rPr sz="4000"/>
              <a:t>edit</a:t>
            </a:r>
            <a:r>
              <a:rPr sz="4000"/>
              <a:t>, </a:t>
            </a:r>
            <a:r>
              <a:rPr sz="4000"/>
              <a:t>delete</a:t>
            </a:r>
            <a:r>
              <a:rPr sz="4000"/>
              <a:t>, </a:t>
            </a:r>
            <a:r>
              <a:rPr sz="4000"/>
              <a:t>and</a:t>
            </a:r>
            <a:r>
              <a:rPr sz="4000"/>
              <a:t> </a:t>
            </a:r>
            <a:r>
              <a:rPr sz="4000"/>
              <a:t>search</a:t>
            </a:r>
            <a:r>
              <a:rPr sz="4000"/>
              <a:t> </a:t>
            </a:r>
            <a:r>
              <a:rPr sz="4000"/>
              <a:t>folders</a:t>
            </a:r>
            <a:r>
              <a:rPr sz="4000"/>
              <a:t>.</a:t>
            </a:r>
            <a:endParaRPr sz="4000"/>
          </a:p>
          <a:p xmlns:a="http://schemas.openxmlformats.org/drawingml/2006/main">
            <a:pPr marL="571500" indent="-571500">
              <a:lnSpc>
                <a:spcPts val="4799"/>
              </a:lnSpc>
              <a:buFont typeface="Arial"/>
              <a:buChar char="•"/>
            </a:pPr>
            <a:r>
              <a:rPr sz="4000"/>
              <a:t>Manage</a:t>
            </a:r>
            <a:r>
              <a:rPr sz="4000"/>
              <a:t> </a:t>
            </a:r>
            <a:r>
              <a:rPr sz="4000"/>
              <a:t>notes</a:t>
            </a:r>
            <a:r>
              <a:rPr sz="4000"/>
              <a:t> </a:t>
            </a:r>
            <a:r>
              <a:rPr sz="4000"/>
              <a:t>inside</a:t>
            </a:r>
            <a:r>
              <a:rPr sz="4000"/>
              <a:t> </a:t>
            </a:r>
            <a:r>
              <a:rPr sz="4000"/>
              <a:t>each</a:t>
            </a:r>
            <a:r>
              <a:rPr sz="4000"/>
              <a:t> </a:t>
            </a:r>
            <a:r>
              <a:rPr sz="4000"/>
              <a:t>folder</a:t>
            </a:r>
            <a:r>
              <a:rPr sz="4000"/>
              <a:t>.</a:t>
            </a:r>
          </a:p>
          <a:p xmlns:a="http://schemas.openxmlformats.org/drawingml/2006/main">
            <a:pPr marL="571500" indent="-571500">
              <a:lnSpc>
                <a:spcPts val="4799"/>
              </a:lnSpc>
              <a:buFont typeface="Arial"/>
              <a:buChar char="•"/>
            </a:pPr>
            <a:r>
              <a:rPr sz="4000"/>
              <a:t>Add</a:t>
            </a:r>
            <a:r>
              <a:rPr sz="4000"/>
              <a:t>, </a:t>
            </a:r>
            <a:r>
              <a:rPr sz="4000"/>
              <a:t>edit</a:t>
            </a:r>
            <a:r>
              <a:rPr sz="4000"/>
              <a:t>, </a:t>
            </a:r>
            <a:r>
              <a:rPr sz="4000"/>
              <a:t>and</a:t>
            </a:r>
            <a:r>
              <a:rPr sz="4000"/>
              <a:t> </a:t>
            </a:r>
            <a:r>
              <a:rPr sz="4000"/>
              <a:t>delete</a:t>
            </a:r>
            <a:r>
              <a:rPr sz="4000"/>
              <a:t> </a:t>
            </a:r>
            <a:r>
              <a:rPr sz="4000"/>
              <a:t>notes.Manage</a:t>
            </a:r>
            <a:r>
              <a:rPr sz="4000"/>
              <a:t> </a:t>
            </a:r>
            <a:r>
              <a:rPr sz="4000"/>
              <a:t>flashcards</a:t>
            </a:r>
            <a:r>
              <a:rPr sz="4000"/>
              <a:t> </a:t>
            </a:r>
            <a:r>
              <a:rPr sz="4000"/>
              <a:t>by</a:t>
            </a:r>
            <a:r>
              <a:rPr sz="4000"/>
              <a:t> </a:t>
            </a:r>
            <a:r>
              <a:rPr sz="4000"/>
              <a:t>folder</a:t>
            </a:r>
            <a:r>
              <a:rPr sz="4000"/>
              <a:t>.</a:t>
            </a:r>
          </a:p>
          <a:p xmlns:a="http://schemas.openxmlformats.org/drawingml/2006/main">
            <a:pPr marL="571500" indent="-571500">
              <a:lnSpc>
                <a:spcPts val="4799"/>
              </a:lnSpc>
              <a:buFont typeface="Arial"/>
              <a:buChar char="•"/>
            </a:pPr>
            <a:r>
              <a:rPr sz="4000"/>
              <a:t>Flip</a:t>
            </a:r>
            <a:r>
              <a:rPr sz="4000"/>
              <a:t> </a:t>
            </a:r>
            <a:r>
              <a:rPr sz="4000"/>
              <a:t>cards</a:t>
            </a:r>
            <a:r>
              <a:rPr sz="4000"/>
              <a:t> </a:t>
            </a:r>
            <a:r>
              <a:rPr sz="4000"/>
              <a:t>and</a:t>
            </a:r>
            <a:r>
              <a:rPr sz="4000"/>
              <a:t> </a:t>
            </a:r>
            <a:r>
              <a:rPr sz="4000"/>
              <a:t>move</a:t>
            </a:r>
            <a:r>
              <a:rPr sz="4000"/>
              <a:t> </a:t>
            </a:r>
            <a:r>
              <a:rPr sz="4000"/>
              <a:t>between</a:t>
            </a:r>
            <a:r>
              <a:rPr sz="4000"/>
              <a:t> </a:t>
            </a:r>
            <a:r>
              <a:rPr sz="4000"/>
              <a:t>flashcards</a:t>
            </a:r>
            <a:r>
              <a:rPr sz="4000"/>
              <a:t>.</a:t>
            </a:r>
          </a:p>
          <a:p xmlns:a="http://schemas.openxmlformats.org/drawingml/2006/main">
            <a:pPr marL="571500" indent="-571500">
              <a:lnSpc>
                <a:spcPts val="4799"/>
              </a:lnSpc>
              <a:buFont typeface="Arial"/>
              <a:buChar char="•"/>
            </a:pPr>
            <a:r>
              <a:rPr sz="4000"/>
              <a:t>Use</a:t>
            </a:r>
            <a:r>
              <a:rPr sz="4000"/>
              <a:t> </a:t>
            </a:r>
            <a:r>
              <a:rPr sz="4000"/>
              <a:t>Pomodoro</a:t>
            </a:r>
            <a:r>
              <a:rPr sz="4000"/>
              <a:t> </a:t>
            </a:r>
            <a:r>
              <a:rPr sz="4000"/>
              <a:t>timer</a:t>
            </a:r>
            <a:r>
              <a:rPr sz="4000"/>
              <a:t> </a:t>
            </a:r>
            <a:r>
              <a:rPr sz="4000"/>
              <a:t>for</a:t>
            </a:r>
            <a:r>
              <a:rPr sz="4000"/>
              <a:t> </a:t>
            </a:r>
            <a:r>
              <a:rPr sz="4000"/>
              <a:t>focused</a:t>
            </a:r>
            <a:r>
              <a:rPr sz="4000"/>
              <a:t> </a:t>
            </a:r>
            <a:r>
              <a:rPr sz="4000"/>
              <a:t>study</a:t>
            </a:r>
            <a:r>
              <a:rPr sz="4000"/>
              <a:t>.</a:t>
            </a:r>
          </a:p>
          <a:p xmlns:a="http://schemas.openxmlformats.org/drawingml/2006/main">
            <a:pPr marL="571500" indent="-571500">
              <a:lnSpc>
                <a:spcPts val="4799"/>
              </a:lnSpc>
              <a:buFont typeface="Arial"/>
              <a:buChar char="•"/>
            </a:pPr>
            <a:r>
              <a:rPr sz="4000"/>
              <a:t>View</a:t>
            </a:r>
            <a:r>
              <a:rPr sz="4000"/>
              <a:t> </a:t>
            </a:r>
            <a:r>
              <a:rPr sz="4000"/>
              <a:t>basic</a:t>
            </a:r>
            <a:r>
              <a:rPr sz="4000"/>
              <a:t> </a:t>
            </a:r>
            <a:r>
              <a:rPr sz="4000"/>
              <a:t>profile</a:t>
            </a:r>
            <a:r>
              <a:rPr sz="4000"/>
              <a:t> </a:t>
            </a:r>
            <a:r>
              <a:rPr sz="4000"/>
              <a:t>and</a:t>
            </a:r>
            <a:r>
              <a:rPr sz="4000"/>
              <a:t> </a:t>
            </a:r>
            <a:r>
              <a:rPr sz="4000"/>
              <a:t>application</a:t>
            </a:r>
            <a:r>
              <a:rPr sz="4000"/>
              <a:t> </a:t>
            </a:r>
            <a:r>
              <a:rPr sz="4000"/>
              <a:t>information</a:t>
            </a:r>
            <a:endParaRPr sz="3999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cecda018047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000" y="2037099"/>
            <a:ext cx="3352800" cy="653559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8273832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F39B328B-B3AE-482C-A467-F5DB14B38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927000"/>
            <a:ext cx="18288000" cy="360045"/>
          </a:xfrm>
          <a:custGeom xmlns:a="http://schemas.openxmlformats.org/drawingml/2006/main">
            <a:rect l="l" t="t" r="r" b="b"/>
            <a:pathLst>
              <a:path w="24384000" h="480060">
                <a:moveTo>
                  <a:pt x="0" y="0"/>
                </a:moveTo>
                <a:lnTo>
                  <a:pt x="24384000" y="0"/>
                </a:lnTo>
                <a:lnTo>
                  <a:pt x="24384000" y="480060"/>
                </a:lnTo>
                <a:lnTo>
                  <a:pt x="0" y="48006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420B9A3F-DA02-42F7-9AA6-03D7C5CA5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BDCA8A8-7690-4482-9F0E-3579934C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028700"/>
            <a:ext cx="18288000" cy="1490514"/>
          </a:xfrm>
          <a:custGeom xmlns:a="http://schemas.openxmlformats.org/drawingml/2006/main">
            <a:rect l="l" t="t" r="r" b="b"/>
            <a:pathLst>
              <a:path w="24384000" h="1987352">
                <a:moveTo>
                  <a:pt x="0" y="0"/>
                </a:moveTo>
                <a:lnTo>
                  <a:pt x="24384000" y="0"/>
                </a:lnTo>
                <a:lnTo>
                  <a:pt x="24384000" y="1987352"/>
                </a:lnTo>
                <a:lnTo>
                  <a:pt x="0" y="19873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92452A9B-3577-40DF-93E3-4CF5E7D7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1007269"/>
            <a:ext cx="18288000" cy="1511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Database Design</a:t>
            </a:r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926D2D30-0E7D-45C2-9E1E-E4E4A0E81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8098"/>
            <a:ext cx="5486400" cy="4473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742950" indent="-742950" algn="just">
              <a:lnSpc>
                <a:spcPts val="5059"/>
              </a:lnSpc>
              <a:buFont typeface="+mj-lt"/>
              <a:buAutoNum type="arabicPeriod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folders: Stores study folder information</a:t>
            </a:r>
          </a:p>
          <a:p xmlns:a="http://schemas.openxmlformats.org/drawingml/2006/main">
            <a:pPr algn="just">
              <a:lnSpc>
                <a:spcPts val="5059"/>
              </a:lnSpc>
              <a:buNone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Main fields: 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id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name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note_count</a:t>
            </a:r>
            <a:endParaRPr sz="20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created_at</a:t>
            </a:r>
            <a:endParaRPr sz="20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F628AC5-A54B-8DB8-0975-C037ED2B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58158"/>
            <a:ext cx="6248400" cy="521944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742950" indent="-742950" algn="just">
              <a:lnSpc>
                <a:spcPts val="5059"/>
              </a:lnSpc>
              <a:buAutoNum type="arabicPeriod" startAt="2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notes: Stores notes belonging to each folder.</a:t>
            </a:r>
          </a:p>
          <a:p xmlns:a="http://schemas.openxmlformats.org/drawingml/2006/main">
            <a:pPr algn="just">
              <a:lnSpc>
                <a:spcPts val="5059"/>
              </a:lnSpc>
              <a:buNone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Main fields: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id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folder_id</a:t>
            </a:r>
            <a:endParaRPr sz="20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title 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content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created_date</a:t>
            </a:r>
            <a:endParaRPr sz="20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9732590-74B7-4F6B-6E22-5AD046D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0075" y="2367584"/>
            <a:ext cx="9335068" cy="64998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5059"/>
              </a:lnSpc>
              <a:spcBef>
                <a:spcPct val="0"/>
              </a:spcBef>
              <a:buNone/>
            </a:pPr>
            <a:r>
              <a:rPr sz="23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The </a:t>
            </a:r>
            <a:r>
              <a:rPr sz="2300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system </a:t>
            </a:r>
            <a:r>
              <a:rPr sz="2300" b="1"/>
              <a:t>uses</a:t>
            </a:r>
            <a:r>
              <a:rPr sz="2300" b="1"/>
              <a:t> </a:t>
            </a:r>
            <a:r>
              <a:rPr sz="2300" b="1"/>
              <a:t>MySQL</a:t>
            </a:r>
            <a:r>
              <a:rPr sz="2300" b="1"/>
              <a:t> </a:t>
            </a:r>
            <a:r>
              <a:rPr sz="2300" b="1"/>
              <a:t>database</a:t>
            </a:r>
            <a:r>
              <a:rPr sz="2300" b="1"/>
              <a:t> </a:t>
            </a:r>
            <a:r>
              <a:rPr sz="2300" b="1"/>
              <a:t>with</a:t>
            </a:r>
            <a:r>
              <a:rPr sz="2300" b="1"/>
              <a:t> </a:t>
            </a:r>
            <a:r>
              <a:rPr sz="2300" b="1"/>
              <a:t>three</a:t>
            </a:r>
            <a:r>
              <a:rPr sz="2300" b="1"/>
              <a:t> </a:t>
            </a:r>
            <a:r>
              <a:rPr sz="2300" b="1"/>
              <a:t>main</a:t>
            </a:r>
            <a:r>
              <a:rPr sz="2300" b="1"/>
              <a:t> </a:t>
            </a:r>
            <a:r>
              <a:rPr sz="2300" b="1"/>
              <a:t>tables</a:t>
            </a:r>
            <a:r>
              <a:rPr sz="2300" b="1"/>
              <a:t>:</a:t>
            </a:r>
            <a:endParaRPr sz="23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8CF1DD6-2261-4A61-0E19-DA9C008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704982"/>
            <a:ext cx="4495800" cy="521360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just">
              <a:lnSpc>
                <a:spcPts val="5059"/>
              </a:lnSpc>
              <a:buNone/>
            </a:pPr>
            <a:r>
              <a:rPr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3</a:t>
            </a: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. flashcard: Stores flashcards belonging to each folder.</a:t>
            </a:r>
          </a:p>
          <a:p xmlns:a="http://schemas.openxmlformats.org/drawingml/2006/main">
            <a:pPr algn="just">
              <a:lnSpc>
                <a:spcPts val="5059"/>
              </a:lnSpc>
              <a:buNone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Main fields: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id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folder_id</a:t>
            </a:r>
            <a:endParaRPr sz="20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question 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answer</a:t>
            </a:r>
          </a:p>
          <a:p xmlns:a="http://schemas.openxmlformats.org/drawingml/2006/main">
            <a:pPr marL="571500" indent="-571500" algn="just">
              <a:lnSpc>
                <a:spcPts val="5059"/>
              </a:lnSpc>
              <a:buFont typeface="Arial"/>
              <a:buChar char="•"/>
            </a:pPr>
            <a:r>
              <a:rPr sz="2000" b="1">
                <a:solidFill>
                  <a:srgbClr val="000000"/>
                </a:solidFill>
                <a:latin typeface="Arial Bold"/>
                <a:ea typeface="Arial Bold"/>
                <a:cs typeface="Arial Bold"/>
              </a:rPr>
              <a:t>created_at</a:t>
            </a:r>
            <a:endParaRPr sz="2000" b="1">
              <a:solidFill>
                <a:srgbClr val="000000"/>
              </a:solidFill>
              <a:latin typeface="Arial Bold"/>
              <a:ea typeface="Arial Bold"/>
              <a:cs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266068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14A43D6-BC67-40AB-A575-9388D020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5208" y="0"/>
            <a:ext cx="3168396" cy="10287000"/>
          </a:xfrm>
          <a:custGeom xmlns:a="http://schemas.openxmlformats.org/drawingml/2006/main">
            <a:rect l="l" t="t" r="r" b="b"/>
            <a:pathLst>
              <a:path w="4224528" h="13716000">
                <a:moveTo>
                  <a:pt x="0" y="0"/>
                </a:moveTo>
                <a:lnTo>
                  <a:pt x="4224528" y="0"/>
                </a:lnTo>
                <a:lnTo>
                  <a:pt x="4224528" y="13716000"/>
                </a:lnTo>
                <a:lnTo>
                  <a:pt x="0" y="1371600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AFB15156-C47F-4E4C-A511-678EC1FC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8968" y="1876462"/>
            <a:ext cx="3168396" cy="7031926"/>
          </a:xfrm>
          <a:custGeom xmlns:a="http://schemas.openxmlformats.org/drawingml/2006/main">
            <a:rect l="l" t="t" r="r" b="b"/>
            <a:pathLst>
              <a:path w="4224528" h="9375902">
                <a:moveTo>
                  <a:pt x="0" y="0"/>
                </a:moveTo>
                <a:lnTo>
                  <a:pt x="4224528" y="0"/>
                </a:lnTo>
                <a:lnTo>
                  <a:pt x="4224528" y="9375902"/>
                </a:lnTo>
                <a:lnTo>
                  <a:pt x="0" y="93759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387444c693f441b2"/>
            <a:stretch>
              <a:fillRect l="0" t="0" r="1" b="0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DD632E83-3E8F-47E1-94C9-54E03F61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78968" y="1876462"/>
            <a:ext cx="1584197" cy="7031926"/>
          </a:xfrm>
          <a:custGeom xmlns:a="http://schemas.openxmlformats.org/drawingml/2006/main">
            <a:rect l="l" t="t" r="r" b="b"/>
            <a:pathLst>
              <a:path w="2112264" h="9375902">
                <a:moveTo>
                  <a:pt x="0" y="0"/>
                </a:moveTo>
                <a:lnTo>
                  <a:pt x="2112264" y="0"/>
                </a:lnTo>
                <a:lnTo>
                  <a:pt x="2112264" y="9375902"/>
                </a:lnTo>
                <a:lnTo>
                  <a:pt x="0" y="9375902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7a786be60a340bd"/>
            <a:stretch>
              <a:fillRect l="0" t="0" r="-99997" b="0"/>
            </a:stretch>
          </a:blipFill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457B80C0-932C-476D-9795-DE4FE4A7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5648" y="303760"/>
            <a:ext cx="13176448" cy="1490514"/>
          </a:xfrm>
          <a:custGeom xmlns:a="http://schemas.openxmlformats.org/drawingml/2006/main">
            <a:rect l="l" t="t" r="r" b="b"/>
            <a:pathLst>
              <a:path w="17568597" h="1987352">
                <a:moveTo>
                  <a:pt x="0" y="0"/>
                </a:moveTo>
                <a:lnTo>
                  <a:pt x="17568597" y="0"/>
                </a:lnTo>
                <a:lnTo>
                  <a:pt x="17568597" y="1987352"/>
                </a:lnTo>
                <a:lnTo>
                  <a:pt x="0" y="19873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D957635F-E6ED-4808-92A3-98D99A12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75648" y="282329"/>
            <a:ext cx="13176448" cy="1511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ts val="8640"/>
              </a:lnSpc>
              <a:buNone/>
            </a:pPr>
            <a:r>
              <a:rPr sz="7200">
                <a:solidFill>
                  <a:srgbClr val="000000"/>
                </a:solidFill>
                <a:latin typeface="Arial"/>
                <a:ea typeface="Arial"/>
                <a:cs typeface="Arial"/>
              </a:rPr>
              <a:t>Key features</a:t>
            </a:r>
          </a:p>
        </p:txBody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49EEE804-EB97-4581-9BBE-47041B2C9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227" y="1839315"/>
            <a:ext cx="10513168" cy="1440000"/>
          </a:xfrm>
          <a:custGeom xmlns:a="http://schemas.openxmlformats.org/drawingml/2006/main">
            <a:rect l="l" t="t" r="r" b="b"/>
            <a:pathLst>
              <a:path w="10513168" h="1440000">
                <a:moveTo>
                  <a:pt x="0" y="0"/>
                </a:moveTo>
                <a:lnTo>
                  <a:pt x="10513168" y="0"/>
                </a:lnTo>
                <a:lnTo>
                  <a:pt x="10513168" y="1440000"/>
                </a:lnTo>
                <a:lnTo>
                  <a:pt x="0" y="1440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5773bb81084c3f">
              <a:extLst>
                <a:ext uri="{96DAC541-7B7A-43D3-8B79-37D633B846F1}">
                  <asvg:svgBlip xmlns:asvg="http://schemas.microsoft.com/office/drawing/2016/SVG/main" r:embed="Ra26dcf3e522147b4"/>
                </a:ext>
              </a:extLst>
            </a:blip>
            <a:stretch>
              <a:fillRect l="0" t="0" r="0" b="0"/>
            </a:stretch>
          </a:blip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Freeform 12">
            <a:extLst xmlns:a="http://schemas.openxmlformats.org/drawingml/2006/main">
              <a:ext uri="{FF2B5EF4-FFF2-40B4-BE49-F238E27FC236}">
                <a16:creationId xmlns:a16="http://schemas.microsoft.com/office/drawing/2014/main" id="{7DDEC3C0-AA9F-4BBF-9422-F93AA632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648" y="4824653"/>
            <a:ext cx="10513168" cy="1440000"/>
          </a:xfrm>
          <a:custGeom xmlns:a="http://schemas.openxmlformats.org/drawingml/2006/main">
            <a:rect l="l" t="t" r="r" b="b"/>
            <a:pathLst>
              <a:path w="10513168" h="1440000">
                <a:moveTo>
                  <a:pt x="0" y="0"/>
                </a:moveTo>
                <a:lnTo>
                  <a:pt x="10513168" y="0"/>
                </a:lnTo>
                <a:lnTo>
                  <a:pt x="10513168" y="1440000"/>
                </a:lnTo>
                <a:lnTo>
                  <a:pt x="0" y="1440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5773bb81084c3f">
              <a:extLst>
                <a:ext uri="{96DAC541-7B7A-43D3-8B79-37D633B846F1}">
                  <asvg:svgBlip xmlns:asvg="http://schemas.microsoft.com/office/drawing/2016/SVG/main" r:embed="Ra26dcf3e522147b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4406E60B-D2D2-4E42-8250-582AECB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108" y="6958436"/>
            <a:ext cx="10513168" cy="1440000"/>
          </a:xfrm>
          <a:custGeom xmlns:a="http://schemas.openxmlformats.org/drawingml/2006/main">
            <a:rect l="l" t="t" r="r" b="b"/>
            <a:pathLst>
              <a:path w="10513168" h="1440000">
                <a:moveTo>
                  <a:pt x="0" y="0"/>
                </a:moveTo>
                <a:lnTo>
                  <a:pt x="10513168" y="0"/>
                </a:lnTo>
                <a:lnTo>
                  <a:pt x="10513168" y="1440000"/>
                </a:lnTo>
                <a:lnTo>
                  <a:pt x="0" y="1440000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0b5773bb81084c3f">
              <a:extLst>
                <a:ext uri="{96DAC541-7B7A-43D3-8B79-37D633B846F1}">
                  <asvg:svgBlip xmlns:asvg="http://schemas.microsoft.com/office/drawing/2016/SVG/main" r:embed="Ra26dcf3e522147b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6DCC58AF-30B0-412A-AD1A-3EBD8064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590" y="1876462"/>
            <a:ext cx="883448" cy="727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01</a:t>
            </a:r>
          </a:p>
        </p:txBody>
      </p:sp>
      <p:sp>
        <p:nvSpPr>
          <p:cNvPr id="15" name="TextBox 15">
            <a:extLst xmlns:a="http://schemas.openxmlformats.org/drawingml/2006/main">
              <a:ext uri="{FF2B5EF4-FFF2-40B4-BE49-F238E27FC236}">
                <a16:creationId xmlns:a16="http://schemas.microsoft.com/office/drawing/2014/main" id="{182B1159-AF04-42DC-8B84-A0B0CFFA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648" y="4817123"/>
            <a:ext cx="883448" cy="727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02</a:t>
            </a:r>
          </a:p>
        </p:txBody>
      </p:sp>
      <p:sp>
        <p:nvSpPr>
          <p:cNvPr id="16" name="TextBox 16">
            <a:extLst xmlns:a="http://schemas.openxmlformats.org/drawingml/2006/main">
              <a:ext uri="{FF2B5EF4-FFF2-40B4-BE49-F238E27FC236}">
                <a16:creationId xmlns:a16="http://schemas.microsoft.com/office/drawing/2014/main" id="{7EE08A13-6211-4F35-AEFF-7E4CD835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5648" y="7021864"/>
            <a:ext cx="883448" cy="7278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4800"/>
              </a:lnSpc>
              <a:buNone/>
            </a:pPr>
            <a:r>
              <a:rPr sz="4000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03</a:t>
            </a:r>
          </a:p>
        </p:txBody>
      </p:sp>
      <p:sp>
        <p:nvSpPr>
          <p:cNvPr id="17" name="TextBox 17">
            <a:extLst xmlns:a="http://schemas.openxmlformats.org/drawingml/2006/main">
              <a:ext uri="{FF2B5EF4-FFF2-40B4-BE49-F238E27FC236}">
                <a16:creationId xmlns:a16="http://schemas.microsoft.com/office/drawing/2014/main" id="{4CBE9354-9679-445A-B89F-378B50ED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0141" y="1766914"/>
            <a:ext cx="8602254" cy="302480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200" b="1">
                <a:solidFill>
                  <a:srgbClr val="404040"/>
                </a:solidFill>
                <a:latin typeface="Arial Bold"/>
                <a:ea typeface="Arial Bold"/>
                <a:cs typeface="Arial Bold"/>
              </a:rPr>
              <a:t>Folder Management: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Display</a:t>
            </a:r>
            <a:r>
              <a:rPr sz="2200"/>
              <a:t> </a:t>
            </a:r>
            <a:r>
              <a:rPr sz="2200"/>
              <a:t>study</a:t>
            </a:r>
            <a:r>
              <a:rPr sz="2200"/>
              <a:t> </a:t>
            </a:r>
            <a:r>
              <a:rPr sz="2200"/>
              <a:t>folders</a:t>
            </a:r>
            <a:r>
              <a:rPr sz="2200"/>
              <a:t>.</a:t>
            </a:r>
            <a:endParaRPr sz="2200"/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Add</a:t>
            </a:r>
            <a:r>
              <a:rPr sz="2200"/>
              <a:t> </a:t>
            </a:r>
            <a:r>
              <a:rPr sz="2200"/>
              <a:t>new</a:t>
            </a:r>
            <a:r>
              <a:rPr sz="2200"/>
              <a:t> </a:t>
            </a:r>
            <a:r>
              <a:rPr sz="2200"/>
              <a:t>folders</a:t>
            </a:r>
            <a:r>
              <a:rPr sz="2200"/>
              <a:t>.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Edit</a:t>
            </a:r>
            <a:r>
              <a:rPr sz="2200"/>
              <a:t> </a:t>
            </a:r>
            <a:r>
              <a:rPr sz="2200"/>
              <a:t>folder</a:t>
            </a:r>
            <a:r>
              <a:rPr sz="2200"/>
              <a:t> </a:t>
            </a:r>
            <a:r>
              <a:rPr sz="2200"/>
              <a:t>names</a:t>
            </a:r>
            <a:r>
              <a:rPr sz="2200"/>
              <a:t>.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Delete</a:t>
            </a:r>
            <a:r>
              <a:rPr sz="2200"/>
              <a:t> </a:t>
            </a:r>
            <a:r>
              <a:rPr sz="2200"/>
              <a:t>folders</a:t>
            </a:r>
            <a:r>
              <a:rPr sz="2200"/>
              <a:t>.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Search</a:t>
            </a:r>
            <a:r>
              <a:rPr sz="2200"/>
              <a:t> </a:t>
            </a:r>
            <a:r>
              <a:rPr sz="2200"/>
              <a:t>folders</a:t>
            </a:r>
            <a:r>
              <a:rPr sz="2200"/>
              <a:t>.</a:t>
            </a:r>
            <a:endParaRPr sz="2200" b="1">
              <a:solidFill>
                <a:srgbClr val="404040"/>
              </a:solidFill>
              <a:latin typeface="Arial Bold"/>
              <a:ea typeface="Arial Bold"/>
              <a:cs typeface="Arial Bold"/>
            </a:endParaRPr>
          </a:p>
          <a:p xmlns:a="http://schemas.openxmlformats.org/drawingml/2006/main">
            <a:pPr marL="302260" lvl="1" algn="l">
              <a:lnSpc>
                <a:spcPts val="3359"/>
              </a:lnSpc>
              <a:buNone/>
            </a:pPr>
            <a:endParaRPr sz="2799" b="1">
              <a:solidFill>
                <a:srgbClr val="404040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18" name="TextBox 18">
            <a:extLst xmlns:a="http://schemas.openxmlformats.org/drawingml/2006/main">
              <a:ext uri="{FF2B5EF4-FFF2-40B4-BE49-F238E27FC236}">
                <a16:creationId xmlns:a16="http://schemas.microsoft.com/office/drawing/2014/main" id="{C64E49BE-AB92-4D27-9349-5AFF5ACE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848" y="4805603"/>
            <a:ext cx="8602254" cy="21528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59"/>
              </a:lnSpc>
              <a:buNone/>
            </a:pPr>
            <a:r>
              <a:rPr sz="2200" b="1">
                <a:solidFill>
                  <a:srgbClr val="404040"/>
                </a:solidFill>
                <a:latin typeface="Arial Bold"/>
                <a:ea typeface="Arial Bold"/>
                <a:cs typeface="Arial Bold"/>
              </a:rPr>
              <a:t>Note Management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Display</a:t>
            </a:r>
            <a:r>
              <a:rPr sz="2200"/>
              <a:t> </a:t>
            </a:r>
            <a:r>
              <a:rPr sz="2200"/>
              <a:t>notes</a:t>
            </a:r>
            <a:r>
              <a:rPr sz="2200"/>
              <a:t> </a:t>
            </a:r>
            <a:r>
              <a:rPr sz="2200"/>
              <a:t>by</a:t>
            </a:r>
            <a:r>
              <a:rPr sz="2200"/>
              <a:t> </a:t>
            </a:r>
            <a:r>
              <a:rPr sz="2200"/>
              <a:t>folder</a:t>
            </a:r>
            <a:r>
              <a:rPr sz="2200"/>
              <a:t>.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Add</a:t>
            </a:r>
            <a:r>
              <a:rPr sz="2200"/>
              <a:t> </a:t>
            </a:r>
            <a:r>
              <a:rPr sz="2200"/>
              <a:t>new</a:t>
            </a:r>
            <a:r>
              <a:rPr sz="2200"/>
              <a:t> </a:t>
            </a:r>
            <a:r>
              <a:rPr sz="2200"/>
              <a:t>notes</a:t>
            </a:r>
            <a:r>
              <a:rPr sz="2200"/>
              <a:t>.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Edit</a:t>
            </a:r>
            <a:r>
              <a:rPr sz="2200"/>
              <a:t> </a:t>
            </a:r>
            <a:r>
              <a:rPr sz="2200"/>
              <a:t>note</a:t>
            </a:r>
            <a:r>
              <a:rPr sz="2200"/>
              <a:t> </a:t>
            </a:r>
            <a:r>
              <a:rPr sz="2200"/>
              <a:t>content</a:t>
            </a:r>
            <a:r>
              <a:rPr sz="2200"/>
              <a:t>.</a:t>
            </a:r>
          </a:p>
          <a:p xmlns:a="http://schemas.openxmlformats.org/drawingml/2006/main">
            <a:pPr marL="604519" lvl="1" indent="-302260">
              <a:lnSpc>
                <a:spcPts val="3359"/>
              </a:lnSpc>
              <a:buFont typeface="Arial"/>
              <a:buChar char="•"/>
            </a:pPr>
            <a:r>
              <a:rPr sz="2200"/>
              <a:t>Delete</a:t>
            </a:r>
            <a:r>
              <a:rPr sz="2200"/>
              <a:t> </a:t>
            </a:r>
            <a:r>
              <a:rPr sz="2200"/>
              <a:t>notes</a:t>
            </a:r>
            <a:endParaRPr sz="2200" b="1">
              <a:solidFill>
                <a:srgbClr val="404040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19" name="TextBox 19">
            <a:extLst xmlns:a="http://schemas.openxmlformats.org/drawingml/2006/main">
              <a:ext uri="{FF2B5EF4-FFF2-40B4-BE49-F238E27FC236}">
                <a16:creationId xmlns:a16="http://schemas.microsoft.com/office/drawing/2014/main" id="{2FC35231-7285-479F-8267-1AD9522BF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848" y="7010644"/>
            <a:ext cx="8617968" cy="21800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ts val="3366"/>
              </a:lnSpc>
              <a:buNone/>
            </a:pPr>
            <a:r>
              <a:rPr sz="2200" b="1">
                <a:solidFill>
                  <a:srgbClr val="404040"/>
                </a:solidFill>
                <a:latin typeface="Arial Bold"/>
                <a:ea typeface="Arial Bold"/>
                <a:cs typeface="Arial Bold"/>
              </a:rPr>
              <a:t>Flashcard &amp; Pomodoro:</a:t>
            </a:r>
          </a:p>
          <a:p xmlns:a="http://schemas.openxmlformats.org/drawingml/2006/main">
            <a:pPr marL="605624" lvl="1" indent="-302812">
              <a:lnSpc>
                <a:spcPts val="3366"/>
              </a:lnSpc>
              <a:buFont typeface="Arial"/>
              <a:buChar char="•"/>
            </a:pPr>
            <a:r>
              <a:rPr sz="2200"/>
              <a:t>Create</a:t>
            </a:r>
            <a:r>
              <a:rPr sz="2200"/>
              <a:t> </a:t>
            </a:r>
            <a:r>
              <a:rPr sz="2200"/>
              <a:t>and</a:t>
            </a:r>
            <a:r>
              <a:rPr sz="2200"/>
              <a:t> </a:t>
            </a:r>
            <a:r>
              <a:rPr sz="2200"/>
              <a:t>review</a:t>
            </a:r>
            <a:r>
              <a:rPr sz="2200"/>
              <a:t> </a:t>
            </a:r>
            <a:r>
              <a:rPr sz="2200"/>
              <a:t>flashcards</a:t>
            </a:r>
            <a:r>
              <a:rPr sz="2200"/>
              <a:t>.</a:t>
            </a:r>
          </a:p>
          <a:p xmlns:a="http://schemas.openxmlformats.org/drawingml/2006/main">
            <a:pPr marL="605624" lvl="1" indent="-302812">
              <a:lnSpc>
                <a:spcPts val="3366"/>
              </a:lnSpc>
              <a:buFont typeface="Arial"/>
              <a:buChar char="•"/>
            </a:pPr>
            <a:r>
              <a:rPr sz="2200"/>
              <a:t>Flip</a:t>
            </a:r>
            <a:r>
              <a:rPr sz="2200"/>
              <a:t> </a:t>
            </a:r>
            <a:r>
              <a:rPr sz="2200"/>
              <a:t>cards</a:t>
            </a:r>
            <a:r>
              <a:rPr sz="2200"/>
              <a:t> to </a:t>
            </a:r>
            <a:r>
              <a:rPr sz="2200"/>
              <a:t>view</a:t>
            </a:r>
            <a:r>
              <a:rPr sz="2200"/>
              <a:t> </a:t>
            </a:r>
            <a:r>
              <a:rPr sz="2200"/>
              <a:t>answers</a:t>
            </a:r>
            <a:r>
              <a:rPr sz="2200"/>
              <a:t>.</a:t>
            </a:r>
          </a:p>
          <a:p xmlns:a="http://schemas.openxmlformats.org/drawingml/2006/main">
            <a:pPr marL="605624" lvl="1" indent="-302812">
              <a:lnSpc>
                <a:spcPts val="3366"/>
              </a:lnSpc>
              <a:buFont typeface="Arial"/>
              <a:buChar char="•"/>
            </a:pPr>
            <a:r>
              <a:rPr sz="2200"/>
              <a:t>Choose</a:t>
            </a:r>
            <a:r>
              <a:rPr sz="2200"/>
              <a:t> </a:t>
            </a:r>
            <a:r>
              <a:rPr sz="2200"/>
              <a:t>Pomodoro</a:t>
            </a:r>
            <a:r>
              <a:rPr sz="2200"/>
              <a:t> </a:t>
            </a:r>
            <a:r>
              <a:rPr sz="2200"/>
              <a:t>study</a:t>
            </a:r>
            <a:r>
              <a:rPr sz="2200"/>
              <a:t> </a:t>
            </a:r>
            <a:r>
              <a:rPr sz="2200"/>
              <a:t>sets</a:t>
            </a:r>
            <a:r>
              <a:rPr sz="2200"/>
              <a:t>.</a:t>
            </a:r>
          </a:p>
          <a:p xmlns:a="http://schemas.openxmlformats.org/drawingml/2006/main">
            <a:pPr marL="605624" lvl="1" indent="-302812">
              <a:lnSpc>
                <a:spcPts val="3366"/>
              </a:lnSpc>
              <a:buFont typeface="Arial"/>
              <a:buChar char="•"/>
            </a:pPr>
            <a:r>
              <a:rPr sz="2200"/>
              <a:t>Start</a:t>
            </a:r>
            <a:r>
              <a:rPr sz="2200"/>
              <a:t>, </a:t>
            </a:r>
            <a:r>
              <a:rPr sz="2200"/>
              <a:t>pause</a:t>
            </a:r>
            <a:r>
              <a:rPr sz="2200"/>
              <a:t>, </a:t>
            </a:r>
            <a:r>
              <a:rPr sz="2200"/>
              <a:t>and</a:t>
            </a:r>
            <a:r>
              <a:rPr sz="2200"/>
              <a:t> </a:t>
            </a:r>
            <a:r>
              <a:rPr sz="2200"/>
              <a:t>reset</a:t>
            </a:r>
            <a:r>
              <a:rPr sz="2200"/>
              <a:t> </a:t>
            </a:r>
            <a:r>
              <a:rPr sz="2200"/>
              <a:t>study</a:t>
            </a:r>
            <a:r>
              <a:rPr sz="2200"/>
              <a:t> </a:t>
            </a:r>
            <a:r>
              <a:rPr sz="2200"/>
              <a:t>timer</a:t>
            </a:r>
            <a:r>
              <a:rPr sz="3200"/>
              <a:t>.</a:t>
            </a:r>
            <a:endParaRPr sz="2805" b="1">
              <a:solidFill>
                <a:srgbClr val="404040"/>
              </a:solidFill>
              <a:latin typeface="Arial Bold"/>
              <a:ea typeface="Arial Bold"/>
              <a:cs typeface="Arial Bold"/>
            </a:endParaRPr>
          </a:p>
        </p:txBody>
      </p:sp>
    </p:spTree>
    <p:extLst>
      <p:ext uri="{BB962C8B-B14F-4D97-AF65-F5344CB8AC3E}">
        <p14:creationId xmlns:p14="http://schemas.microsoft.com/office/powerpoint/2010/main" val="1428075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E2F965D1-2AE0-4184-853D-0B8E3C98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5143500"/>
            <a:ext cx="18288000" cy="5143500"/>
          </a:xfrm>
          <a:custGeom xmlns:a="http://schemas.openxmlformats.org/drawingml/2006/main">
            <a:rect l="l" t="t" r="r" b="b"/>
            <a:pathLst>
              <a:path w="24384000" h="6858000">
                <a:moveTo>
                  <a:pt x="0" y="0"/>
                </a:moveTo>
                <a:lnTo>
                  <a:pt x="24384000" y="0"/>
                </a:lnTo>
                <a:lnTo>
                  <a:pt x="24384000" y="6858000"/>
                </a:lnTo>
                <a:lnTo>
                  <a:pt x="0" y="6858000"/>
                </a:lnTo>
                <a:close/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8BF03AFE-6D1D-4920-86CE-FEFDB9EC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2216" y="1687116"/>
            <a:ext cx="9793128" cy="6912768"/>
          </a:xfrm>
          <a:custGeom xmlns:a="http://schemas.openxmlformats.org/drawingml/2006/main">
            <a:rect l="l" t="t" r="r" b="b"/>
            <a:pathLst>
              <a:path w="13057505" h="9217025">
                <a:moveTo>
                  <a:pt x="0" y="0"/>
                </a:moveTo>
                <a:lnTo>
                  <a:pt x="13057505" y="0"/>
                </a:lnTo>
                <a:lnTo>
                  <a:pt x="13057505" y="9217025"/>
                </a:lnTo>
                <a:lnTo>
                  <a:pt x="0" y="9217025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A405D532-36E1-4640-977A-4BF6A2D7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2216" y="0"/>
            <a:ext cx="9793128" cy="391001"/>
          </a:xfrm>
          <a:custGeom xmlns:a="http://schemas.openxmlformats.org/drawingml/2006/main">
            <a:rect l="l" t="t" r="r" b="b"/>
            <a:pathLst>
              <a:path w="13057505" h="521335">
                <a:moveTo>
                  <a:pt x="0" y="0"/>
                </a:moveTo>
                <a:lnTo>
                  <a:pt x="13057505" y="0"/>
                </a:lnTo>
                <a:lnTo>
                  <a:pt x="13057505" y="521335"/>
                </a:lnTo>
                <a:lnTo>
                  <a:pt x="0" y="521335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5F742218-3113-4B4A-A0FE-6A9AB58C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2216" y="9896028"/>
            <a:ext cx="9793128" cy="391001"/>
          </a:xfrm>
          <a:custGeom xmlns:a="http://schemas.openxmlformats.org/drawingml/2006/main">
            <a:rect l="l" t="t" r="r" b="b"/>
            <a:pathLst>
              <a:path w="13057505" h="521335">
                <a:moveTo>
                  <a:pt x="0" y="0"/>
                </a:moveTo>
                <a:lnTo>
                  <a:pt x="13057505" y="0"/>
                </a:lnTo>
                <a:lnTo>
                  <a:pt x="13057505" y="521335"/>
                </a:lnTo>
                <a:lnTo>
                  <a:pt x="0" y="521335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5AF199EE-F6C1-48F3-861B-F6CA47A8E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8311970" y="2312650"/>
            <a:ext cx="1633537" cy="3625595"/>
          </a:xfrm>
          <a:custGeom xmlns:a="http://schemas.openxmlformats.org/drawingml/2006/main">
            <a:rect l="l" t="t" r="r" b="b"/>
            <a:pathLst>
              <a:path w="2178050" h="4834128">
                <a:moveTo>
                  <a:pt x="2178050" y="0"/>
                </a:moveTo>
                <a:lnTo>
                  <a:pt x="0" y="0"/>
                </a:lnTo>
                <a:lnTo>
                  <a:pt x="0" y="4834128"/>
                </a:lnTo>
                <a:lnTo>
                  <a:pt x="2178050" y="4834128"/>
                </a:lnTo>
                <a:lnTo>
                  <a:pt x="217805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8300f9944c794e9e"/>
            <a:stretch>
              <a:fillRect l="0" t="0" r="-283" b="0"/>
            </a:stretch>
          </a:blipFill>
        </p:spPr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0CBF57B-7D31-4175-8240-10447B6E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2216" y="6099036"/>
            <a:ext cx="9793088" cy="1152128"/>
          </a:xfrm>
          <a:custGeom xmlns:a="http://schemas.openxmlformats.org/drawingml/2006/main">
            <a:rect l="l" t="t" r="r" b="b"/>
            <a:pathLst>
              <a:path w="13057451" h="1536171">
                <a:moveTo>
                  <a:pt x="0" y="0"/>
                </a:moveTo>
                <a:lnTo>
                  <a:pt x="13057451" y="0"/>
                </a:lnTo>
                <a:lnTo>
                  <a:pt x="13057451" y="1536171"/>
                </a:lnTo>
                <a:lnTo>
                  <a:pt x="0" y="153617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4" name="TextBox 14">
            <a:extLst xmlns:a="http://schemas.openxmlformats.org/drawingml/2006/main">
              <a:ext uri="{FF2B5EF4-FFF2-40B4-BE49-F238E27FC236}">
                <a16:creationId xmlns:a16="http://schemas.microsoft.com/office/drawing/2014/main" id="{F7298B92-D205-4455-B624-4D3D3CC7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32216" y="6077605"/>
            <a:ext cx="9793088" cy="11735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7382614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7013A5FA-89F4-4854-805B-2303F55A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9927000"/>
            <a:ext cx="18288000" cy="360045"/>
          </a:xfrm>
          <a:custGeom xmlns:a="http://schemas.openxmlformats.org/drawingml/2006/main">
            <a:rect l="l" t="t" r="r" b="b"/>
            <a:pathLst>
              <a:path w="24384000" h="480060">
                <a:moveTo>
                  <a:pt x="0" y="0"/>
                </a:moveTo>
                <a:lnTo>
                  <a:pt x="24384000" y="0"/>
                </a:lnTo>
                <a:lnTo>
                  <a:pt x="24384000" y="480060"/>
                </a:lnTo>
                <a:lnTo>
                  <a:pt x="0" y="480060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7F1E49BD-6898-4284-83FD-04124608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75121ED5-12F4-461D-BEBE-1900F7DE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5718" y="4000774"/>
            <a:ext cx="7411878" cy="719994"/>
          </a:xfrm>
          <a:custGeom xmlns:a="http://schemas.openxmlformats.org/drawingml/2006/main">
            <a:rect l="l" t="t" r="r" b="b"/>
            <a:pathLst>
              <a:path w="9882505" h="959993">
                <a:moveTo>
                  <a:pt x="0" y="0"/>
                </a:moveTo>
                <a:lnTo>
                  <a:pt x="9882505" y="0"/>
                </a:lnTo>
                <a:lnTo>
                  <a:pt x="9882505" y="959993"/>
                </a:lnTo>
                <a:lnTo>
                  <a:pt x="0" y="959993"/>
                </a:lnTo>
                <a:close/>
              </a:path>
            </a:pathLst>
          </a:custGeom>
          <a:solidFill xmlns:a="http://schemas.openxmlformats.org/drawingml/2006/main">
            <a:srgbClr val="F2A40D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9" name="Freeform 9">
            <a:extLst xmlns:a="http://schemas.openxmlformats.org/drawingml/2006/main">
              <a:ext uri="{FF2B5EF4-FFF2-40B4-BE49-F238E27FC236}">
                <a16:creationId xmlns:a16="http://schemas.microsoft.com/office/drawing/2014/main" id="{C8F2AFC7-B1F8-4546-A6C4-CDAD787CB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45718" y="5477354"/>
            <a:ext cx="7411878" cy="991795"/>
          </a:xfrm>
          <a:custGeom xmlns:a="http://schemas.openxmlformats.org/drawingml/2006/main">
            <a:rect l="l" t="t" r="r" b="b"/>
            <a:pathLst>
              <a:path w="9882505" h="1322394">
                <a:moveTo>
                  <a:pt x="0" y="0"/>
                </a:moveTo>
                <a:lnTo>
                  <a:pt x="9882505" y="0"/>
                </a:lnTo>
                <a:lnTo>
                  <a:pt x="9882505" y="1322394"/>
                </a:lnTo>
                <a:lnTo>
                  <a:pt x="0" y="1322394"/>
                </a:lnTo>
                <a:close/>
              </a:path>
            </a:pathLst>
          </a:custGeom>
          <a:solidFill xmlns:a="http://schemas.openxmlformats.org/drawingml/2006/main">
            <a:srgbClr val="F2A40D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1" name="Freeform 11">
            <a:extLst xmlns:a="http://schemas.openxmlformats.org/drawingml/2006/main">
              <a:ext uri="{FF2B5EF4-FFF2-40B4-BE49-F238E27FC236}">
                <a16:creationId xmlns:a16="http://schemas.microsoft.com/office/drawing/2014/main" id="{A5B3E8C9-4E3F-4326-A449-09F853C2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46956"/>
            <a:ext cx="18288000" cy="1490514"/>
          </a:xfrm>
          <a:custGeom xmlns:a="http://schemas.openxmlformats.org/drawingml/2006/main">
            <a:rect l="l" t="t" r="r" b="b"/>
            <a:pathLst>
              <a:path w="24384000" h="1987352">
                <a:moveTo>
                  <a:pt x="0" y="0"/>
                </a:moveTo>
                <a:lnTo>
                  <a:pt x="24384000" y="0"/>
                </a:lnTo>
                <a:lnTo>
                  <a:pt x="24384000" y="1987352"/>
                </a:lnTo>
                <a:lnTo>
                  <a:pt x="0" y="198735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12" name="TextBox 12">
            <a:extLst xmlns:a="http://schemas.openxmlformats.org/drawingml/2006/main">
              <a:ext uri="{FF2B5EF4-FFF2-40B4-BE49-F238E27FC236}">
                <a16:creationId xmlns:a16="http://schemas.microsoft.com/office/drawing/2014/main" id="{7D7CB693-C282-4067-823D-58D104D7C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225525"/>
            <a:ext cx="18288000" cy="15119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Conclusion &amp; Future Work</a:t>
            </a:r>
          </a:p>
        </p:txBody>
      </p:sp>
      <p:sp>
        <p:nvSpPr>
          <p:cNvPr id="13" name="Freeform 13">
            <a:extLst xmlns:a="http://schemas.openxmlformats.org/drawingml/2006/main">
              <a:ext uri="{FF2B5EF4-FFF2-40B4-BE49-F238E27FC236}">
                <a16:creationId xmlns:a16="http://schemas.microsoft.com/office/drawing/2014/main" id="{5C7A6AA9-AC46-400C-8690-E0420BDE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7719" y="1975563"/>
            <a:ext cx="2104736" cy="7392657"/>
          </a:xfrm>
          <a:custGeom xmlns:a="http://schemas.openxmlformats.org/drawingml/2006/main">
            <a:rect l="l" t="t" r="r" b="b"/>
            <a:pathLst>
              <a:path w="2104736" h="7392657">
                <a:moveTo>
                  <a:pt x="0" y="0"/>
                </a:moveTo>
                <a:lnTo>
                  <a:pt x="2104736" y="0"/>
                </a:lnTo>
                <a:lnTo>
                  <a:pt x="2104736" y="7392657"/>
                </a:lnTo>
                <a:lnTo>
                  <a:pt x="0" y="739265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4a0933a9f8044e4b">
              <a:extLst>
                <a:ext uri="{96DAC541-7B7A-43D3-8B79-37D633B846F1}">
                  <asvg:svgBlip xmlns:asvg="http://schemas.microsoft.com/office/drawing/2016/SVG/main" r:embed="R65365c15c6cb4dc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id="15" name="Freeform 15">
            <a:extLst xmlns:a="http://schemas.openxmlformats.org/drawingml/2006/main">
              <a:ext uri="{FF2B5EF4-FFF2-40B4-BE49-F238E27FC236}">
                <a16:creationId xmlns:a16="http://schemas.microsoft.com/office/drawing/2014/main" id="{88D54A9B-E05E-4B5D-8277-B13E3F38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06260" y="3889154"/>
            <a:ext cx="7411878" cy="934307"/>
          </a:xfrm>
          <a:custGeom xmlns:a="http://schemas.openxmlformats.org/drawingml/2006/main">
            <a:rect l="l" t="t" r="r" b="b"/>
            <a:pathLst>
              <a:path w="9882505" h="1245743">
                <a:moveTo>
                  <a:pt x="0" y="0"/>
                </a:moveTo>
                <a:lnTo>
                  <a:pt x="9882505" y="0"/>
                </a:lnTo>
                <a:lnTo>
                  <a:pt x="9882505" y="1245743"/>
                </a:lnTo>
                <a:lnTo>
                  <a:pt x="0" y="1245743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7" name="Freeform 17">
            <a:extLst xmlns:a="http://schemas.openxmlformats.org/drawingml/2006/main">
              <a:ext uri="{FF2B5EF4-FFF2-40B4-BE49-F238E27FC236}">
                <a16:creationId xmlns:a16="http://schemas.microsoft.com/office/drawing/2014/main" id="{D05C878A-C4B4-47D6-9CC6-77A44B75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67136" y="5504226"/>
            <a:ext cx="7411878" cy="964924"/>
          </a:xfrm>
          <a:custGeom xmlns:a="http://schemas.openxmlformats.org/drawingml/2006/main">
            <a:rect l="l" t="t" r="r" b="b"/>
            <a:pathLst>
              <a:path w="9882505" h="1286565">
                <a:moveTo>
                  <a:pt x="0" y="0"/>
                </a:moveTo>
                <a:lnTo>
                  <a:pt x="9882505" y="0"/>
                </a:lnTo>
                <a:lnTo>
                  <a:pt x="9882505" y="1286565"/>
                </a:lnTo>
                <a:lnTo>
                  <a:pt x="0" y="1286565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19" name="Freeform 19">
            <a:extLst xmlns:a="http://schemas.openxmlformats.org/drawingml/2006/main">
              <a:ext uri="{FF2B5EF4-FFF2-40B4-BE49-F238E27FC236}">
                <a16:creationId xmlns:a16="http://schemas.microsoft.com/office/drawing/2014/main" id="{119BC915-58AF-4727-81F9-3B9F228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6751" y="2736862"/>
            <a:ext cx="2917710" cy="958264"/>
          </a:xfrm>
          <a:custGeom xmlns:a="http://schemas.openxmlformats.org/drawingml/2006/main">
            <a:rect l="l" t="t" r="r" b="b"/>
            <a:pathLst>
              <a:path w="768450" h="252382">
                <a:moveTo>
                  <a:pt x="126191" y="0"/>
                </a:moveTo>
                <a:lnTo>
                  <a:pt x="642259" y="0"/>
                </a:lnTo>
                <a:cubicBezTo>
                  <a:pt x="711953" y="0"/>
                  <a:pt x="768450" y="56498"/>
                  <a:pt x="768450" y="126191"/>
                </a:cubicBezTo>
                <a:lnTo>
                  <a:pt x="768450" y="126191"/>
                </a:lnTo>
                <a:cubicBezTo>
                  <a:pt x="768450" y="195885"/>
                  <a:pt x="711953" y="252382"/>
                  <a:pt x="642259" y="252382"/>
                </a:cubicBezTo>
                <a:lnTo>
                  <a:pt x="126191" y="252382"/>
                </a:lnTo>
                <a:cubicBezTo>
                  <a:pt x="56498" y="252382"/>
                  <a:pt x="0" y="195885"/>
                  <a:pt x="0" y="126191"/>
                </a:cubicBezTo>
                <a:lnTo>
                  <a:pt x="0" y="126191"/>
                </a:lnTo>
                <a:cubicBezTo>
                  <a:pt x="0" y="56498"/>
                  <a:pt x="56498" y="0"/>
                  <a:pt x="126191" y="0"/>
                </a:cubicBezTo>
                <a:close/>
              </a:path>
            </a:pathLst>
          </a:custGeom>
          <a:solidFill xmlns:a="http://schemas.openxmlformats.org/drawingml/2006/main">
            <a:srgbClr val="32AEB8"/>
          </a:solidFill>
        </p:spPr>
      </p:sp>
      <p:sp>
        <p:nvSpPr>
          <p:cNvPr id="20" name="TextBox 20">
            <a:extLst xmlns:a="http://schemas.openxmlformats.org/drawingml/2006/main">
              <a:ext uri="{FF2B5EF4-FFF2-40B4-BE49-F238E27FC236}">
                <a16:creationId xmlns:a16="http://schemas.microsoft.com/office/drawing/2014/main" id="{60E044E3-7865-4EC3-889D-4F0281CB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66751" y="2592201"/>
            <a:ext cx="2917710" cy="110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21" name="TextBox 21">
            <a:extLst xmlns:a="http://schemas.openxmlformats.org/drawingml/2006/main">
              <a:ext uri="{FF2B5EF4-FFF2-40B4-BE49-F238E27FC236}">
                <a16:creationId xmlns:a16="http://schemas.microsoft.com/office/drawing/2014/main" id="{027AEB21-F9CB-4667-A292-557A5B3D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1511" y="4132174"/>
            <a:ext cx="7147789" cy="408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59"/>
              </a:lnSpc>
              <a:buNone/>
            </a:pPr>
            <a:r>
              <a:rPr sz="2800"/>
              <a:t>Add</a:t>
            </a:r>
            <a:r>
              <a:rPr sz="2800"/>
              <a:t> </a:t>
            </a:r>
            <a:r>
              <a:rPr sz="2800"/>
              <a:t>login</a:t>
            </a:r>
            <a:r>
              <a:rPr sz="2800"/>
              <a:t> </a:t>
            </a:r>
            <a:r>
              <a:rPr sz="2800"/>
              <a:t>and</a:t>
            </a:r>
            <a:r>
              <a:rPr sz="2800"/>
              <a:t> </a:t>
            </a:r>
            <a:r>
              <a:rPr sz="2800"/>
              <a:t>registration</a:t>
            </a:r>
            <a:r>
              <a:rPr sz="2800"/>
              <a:t>.</a:t>
            </a:r>
            <a:endParaRPr sz="2799" b="1">
              <a:solidFill>
                <a:srgbClr val="FFFFFF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22" name="TextBox 22">
            <a:extLst xmlns:a="http://schemas.openxmlformats.org/drawingml/2006/main">
              <a:ext uri="{FF2B5EF4-FFF2-40B4-BE49-F238E27FC236}">
                <a16:creationId xmlns:a16="http://schemas.microsoft.com/office/drawing/2014/main" id="{57264FDE-F258-45EB-9DEB-43112184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790" y="5512876"/>
            <a:ext cx="5754717" cy="844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3359"/>
              </a:lnSpc>
              <a:buNone/>
            </a:pPr>
            <a:r>
              <a:rPr sz="2800"/>
              <a:t>Deploy</a:t>
            </a:r>
            <a:r>
              <a:rPr sz="2800"/>
              <a:t> API </a:t>
            </a:r>
            <a:r>
              <a:rPr sz="2800"/>
              <a:t>and</a:t>
            </a:r>
            <a:r>
              <a:rPr sz="2800"/>
              <a:t> </a:t>
            </a:r>
            <a:r>
              <a:rPr sz="2800"/>
              <a:t>database</a:t>
            </a:r>
            <a:r>
              <a:rPr sz="2800"/>
              <a:t> to an </a:t>
            </a:r>
            <a:r>
              <a:rPr sz="2800"/>
              <a:t>online</a:t>
            </a:r>
            <a:r>
              <a:rPr sz="2800"/>
              <a:t> </a:t>
            </a:r>
            <a:r>
              <a:rPr sz="2800"/>
              <a:t>server</a:t>
            </a:r>
            <a:r>
              <a:rPr sz="2800"/>
              <a:t>.</a:t>
            </a:r>
            <a:endParaRPr sz="2799" b="1">
              <a:solidFill>
                <a:srgbClr val="FFFFFF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23" name="TextBox 23">
            <a:extLst xmlns:a="http://schemas.openxmlformats.org/drawingml/2006/main">
              <a:ext uri="{FF2B5EF4-FFF2-40B4-BE49-F238E27FC236}">
                <a16:creationId xmlns:a16="http://schemas.microsoft.com/office/drawing/2014/main" id="{18C5AC13-4B39-4DFE-B236-E70D5C7A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587" y="4008596"/>
            <a:ext cx="6902858" cy="844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359"/>
              </a:lnSpc>
              <a:buNone/>
            </a:pPr>
            <a:r>
              <a:rPr sz="2800"/>
              <a:t>The </a:t>
            </a:r>
            <a:r>
              <a:rPr sz="2800"/>
              <a:t>application</a:t>
            </a:r>
            <a:r>
              <a:rPr sz="2800"/>
              <a:t> </a:t>
            </a:r>
            <a:r>
              <a:rPr sz="2800"/>
              <a:t>runs</a:t>
            </a:r>
            <a:r>
              <a:rPr sz="2800"/>
              <a:t> </a:t>
            </a:r>
            <a:r>
              <a:rPr sz="2800"/>
              <a:t>successfully</a:t>
            </a:r>
            <a:r>
              <a:rPr sz="2800"/>
              <a:t> </a:t>
            </a:r>
            <a:r>
              <a:rPr sz="2800"/>
              <a:t>on</a:t>
            </a:r>
            <a:r>
              <a:rPr sz="2800"/>
              <a:t> </a:t>
            </a:r>
            <a:r>
              <a:rPr sz="2800"/>
              <a:t>Android</a:t>
            </a:r>
            <a:r>
              <a:rPr sz="2800"/>
              <a:t> </a:t>
            </a:r>
            <a:r>
              <a:rPr sz="2800"/>
              <a:t>Emulator</a:t>
            </a:r>
            <a:r>
              <a:rPr sz="2800"/>
              <a:t>.</a:t>
            </a:r>
            <a:endParaRPr sz="2799" b="1">
              <a:solidFill>
                <a:srgbClr val="FFFFFF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24" name="TextBox 24">
            <a:extLst xmlns:a="http://schemas.openxmlformats.org/drawingml/2006/main">
              <a:ext uri="{FF2B5EF4-FFF2-40B4-BE49-F238E27FC236}">
                <a16:creationId xmlns:a16="http://schemas.microsoft.com/office/drawing/2014/main" id="{636B5AB6-E87A-449B-B423-D02E7037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587" y="5551324"/>
            <a:ext cx="7071248" cy="8447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359"/>
              </a:lnSpc>
              <a:buNone/>
            </a:pPr>
            <a:r>
              <a:rPr sz="2800"/>
              <a:t>Folder</a:t>
            </a:r>
            <a:r>
              <a:rPr sz="2800"/>
              <a:t>, </a:t>
            </a:r>
            <a:r>
              <a:rPr sz="2800"/>
              <a:t>note</a:t>
            </a:r>
            <a:r>
              <a:rPr sz="2800"/>
              <a:t>, </a:t>
            </a:r>
            <a:r>
              <a:rPr sz="2800"/>
              <a:t>and</a:t>
            </a:r>
            <a:r>
              <a:rPr sz="2800"/>
              <a:t> </a:t>
            </a:r>
            <a:r>
              <a:rPr sz="2800"/>
              <a:t>flashcard</a:t>
            </a:r>
            <a:r>
              <a:rPr sz="2800"/>
              <a:t> </a:t>
            </a:r>
            <a:r>
              <a:rPr sz="2800"/>
              <a:t>management</a:t>
            </a:r>
            <a:r>
              <a:rPr sz="2800"/>
              <a:t> </a:t>
            </a:r>
            <a:r>
              <a:rPr sz="2800"/>
              <a:t>functions</a:t>
            </a:r>
            <a:r>
              <a:rPr sz="2800"/>
              <a:t> </a:t>
            </a:r>
            <a:r>
              <a:rPr sz="2800"/>
              <a:t>work</a:t>
            </a:r>
            <a:r>
              <a:rPr sz="2800"/>
              <a:t> </a:t>
            </a:r>
            <a:r>
              <a:rPr sz="2800"/>
              <a:t>correctly</a:t>
            </a:r>
            <a:r>
              <a:rPr sz="2800"/>
              <a:t>.</a:t>
            </a:r>
            <a:endParaRPr sz="2799" b="1">
              <a:solidFill>
                <a:srgbClr val="FFFFFF"/>
              </a:solidFill>
              <a:latin typeface="Arial Bold"/>
              <a:ea typeface="Arial Bold"/>
              <a:cs typeface="Arial Bold"/>
            </a:endParaRPr>
          </a:p>
        </p:txBody>
      </p:sp>
      <p:sp>
        <p:nvSpPr>
          <p:cNvPr id="25" name="TextBox 25">
            <a:extLst xmlns:a="http://schemas.openxmlformats.org/drawingml/2006/main">
              <a:ext uri="{FF2B5EF4-FFF2-40B4-BE49-F238E27FC236}">
                <a16:creationId xmlns:a16="http://schemas.microsoft.com/office/drawing/2014/main" id="{D367FB99-2778-470E-93F6-389D046D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800" y="7112366"/>
            <a:ext cx="4560708" cy="543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3359"/>
              </a:lnSpc>
              <a:buNone/>
            </a:pPr>
            <a:r>
              <a:rPr sz="2799" b="1">
                <a:solidFill>
                  <a:srgbClr val="FFFFFF"/>
                </a:solidFill>
                <a:latin typeface="Arial Bold"/>
                <a:ea typeface="Arial Bold"/>
                <a:cs typeface="Arial Bold"/>
              </a:rPr>
              <a:t>Add Contents Title</a:t>
            </a:r>
          </a:p>
        </p:txBody>
      </p:sp>
      <p:sp>
        <p:nvSpPr>
          <p:cNvPr id="26" name="TextBox 26">
            <a:extLst xmlns:a="http://schemas.openxmlformats.org/drawingml/2006/main">
              <a:ext uri="{FF2B5EF4-FFF2-40B4-BE49-F238E27FC236}">
                <a16:creationId xmlns:a16="http://schemas.microsoft.com/office/drawing/2014/main" id="{8EFFEF21-A6DB-405E-B84C-7A1E3CC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857" y="2875121"/>
            <a:ext cx="4560708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99"/>
              </a:lnSpc>
              <a:spcBef>
                <a:spcPct val="0"/>
              </a:spcBef>
              <a:buNone/>
            </a:pPr>
            <a:r>
              <a:rPr sz="3999">
                <a:solidFill>
                  <a:srgbClr val="FFFFFF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28" name="Freeform 28">
            <a:extLst xmlns:a="http://schemas.openxmlformats.org/drawingml/2006/main">
              <a:ext uri="{FF2B5EF4-FFF2-40B4-BE49-F238E27FC236}">
                <a16:creationId xmlns:a16="http://schemas.microsoft.com/office/drawing/2014/main" id="{11F4EA95-F2BA-449B-A351-461B309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5042" y="2736862"/>
            <a:ext cx="5275168" cy="958264"/>
          </a:xfrm>
          <a:custGeom xmlns:a="http://schemas.openxmlformats.org/drawingml/2006/main">
            <a:rect l="l" t="t" r="r" b="b"/>
            <a:pathLst>
              <a:path w="1389345" h="252382">
                <a:moveTo>
                  <a:pt x="126191" y="0"/>
                </a:moveTo>
                <a:lnTo>
                  <a:pt x="1263154" y="0"/>
                </a:lnTo>
                <a:cubicBezTo>
                  <a:pt x="1296622" y="0"/>
                  <a:pt x="1328719" y="13295"/>
                  <a:pt x="1352384" y="36961"/>
                </a:cubicBezTo>
                <a:cubicBezTo>
                  <a:pt x="1376050" y="60626"/>
                  <a:pt x="1389345" y="92723"/>
                  <a:pt x="1389345" y="126191"/>
                </a:cubicBezTo>
                <a:lnTo>
                  <a:pt x="1389345" y="126191"/>
                </a:lnTo>
                <a:cubicBezTo>
                  <a:pt x="1389345" y="195885"/>
                  <a:pt x="1332847" y="252382"/>
                  <a:pt x="1263154" y="252382"/>
                </a:cubicBezTo>
                <a:lnTo>
                  <a:pt x="126191" y="252382"/>
                </a:lnTo>
                <a:cubicBezTo>
                  <a:pt x="56498" y="252382"/>
                  <a:pt x="0" y="195885"/>
                  <a:pt x="0" y="126191"/>
                </a:cubicBezTo>
                <a:lnTo>
                  <a:pt x="0" y="126191"/>
                </a:lnTo>
                <a:cubicBezTo>
                  <a:pt x="0" y="56498"/>
                  <a:pt x="56498" y="0"/>
                  <a:pt x="126191" y="0"/>
                </a:cubicBezTo>
                <a:close/>
              </a:path>
            </a:pathLst>
          </a:custGeom>
          <a:solidFill xmlns:a="http://schemas.openxmlformats.org/drawingml/2006/main">
            <a:srgbClr val="F1A40D"/>
          </a:solidFill>
        </p:spPr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5E502C0-3E3A-472E-951D-227ADA89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015042" y="2592201"/>
            <a:ext cx="5275168" cy="1102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50800" tIns="50800" rIns="50800" bIns="50800" anchor="ctr"/>
          <a:lstStyle xmlns:a="http://schemas.openxmlformats.org/drawingml/2006/main"/>
          <a:p xmlns:a="http://schemas.openxmlformats.org/drawingml/2006/main">
            <a:pPr algn="ctr">
              <a:lnSpc>
                <a:spcPts val="2659"/>
              </a:lnSpc>
              <a:buNone/>
            </a:pPr>
            <a:endParaRPr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5048E3B-15D4-4F6A-A703-0EC55514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1315" y="2906432"/>
            <a:ext cx="4960686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ts val="4799"/>
              </a:lnSpc>
              <a:spcBef>
                <a:spcPct val="0"/>
              </a:spcBef>
              <a:buNone/>
            </a:pPr>
            <a:r>
              <a:rPr sz="3999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Improvements</a:t>
            </a:r>
          </a:p>
        </p:txBody>
      </p:sp>
      <p:sp>
        <p:nvSpPr>
          <p:cNvPr id="32" name="Freeform 15">
            <a:extLst xmlns:a="http://schemas.openxmlformats.org/drawingml/2006/main">
              <a:ext uri="{FF2B5EF4-FFF2-40B4-BE49-F238E27FC236}">
                <a16:creationId xmlns:a16="http://schemas.microsoft.com/office/drawing/2014/main" id="{977AF2F3-F008-839F-5B3E-FAE5F14A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2065" y="6954887"/>
            <a:ext cx="7411878" cy="934307"/>
          </a:xfrm>
          <a:custGeom xmlns:a="http://schemas.openxmlformats.org/drawingml/2006/main">
            <a:rect l="l" t="t" r="r" b="b"/>
            <a:pathLst>
              <a:path w="9882505" h="1245743">
                <a:moveTo>
                  <a:pt x="0" y="0"/>
                </a:moveTo>
                <a:lnTo>
                  <a:pt x="9882505" y="0"/>
                </a:lnTo>
                <a:lnTo>
                  <a:pt x="9882505" y="1245743"/>
                </a:lnTo>
                <a:lnTo>
                  <a:pt x="0" y="1245743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2800"/>
              <a:t>The </a:t>
            </a:r>
            <a:r>
              <a:rPr sz="2800"/>
              <a:t>Android</a:t>
            </a:r>
            <a:r>
              <a:rPr sz="2800"/>
              <a:t> </a:t>
            </a:r>
            <a:r>
              <a:rPr sz="2800"/>
              <a:t>app</a:t>
            </a:r>
            <a:r>
              <a:rPr sz="2800"/>
              <a:t> can </a:t>
            </a:r>
            <a:r>
              <a:rPr sz="2800"/>
              <a:t>connect</a:t>
            </a:r>
            <a:r>
              <a:rPr sz="2800"/>
              <a:t> to PHP API </a:t>
            </a:r>
            <a:r>
              <a:rPr sz="2800"/>
              <a:t>and</a:t>
            </a:r>
            <a:r>
              <a:rPr sz="2800"/>
              <a:t> </a:t>
            </a:r>
            <a:r>
              <a:rPr sz="2800"/>
              <a:t>MySQL</a:t>
            </a:r>
            <a:r>
              <a:rPr sz="2800"/>
              <a:t>.</a:t>
            </a:r>
          </a:p>
        </p:txBody>
      </p:sp>
      <p:sp>
        <p:nvSpPr>
          <p:cNvPr id="36" name="Freeform 9">
            <a:extLst xmlns:a="http://schemas.openxmlformats.org/drawingml/2006/main">
              <a:ext uri="{FF2B5EF4-FFF2-40B4-BE49-F238E27FC236}">
                <a16:creationId xmlns:a16="http://schemas.microsoft.com/office/drawing/2014/main" id="{3748B892-AF28-023D-006C-47049E5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6207" y="6897391"/>
            <a:ext cx="7411878" cy="991795"/>
          </a:xfrm>
          <a:custGeom xmlns:a="http://schemas.openxmlformats.org/drawingml/2006/main">
            <a:rect l="l" t="t" r="r" b="b"/>
            <a:pathLst>
              <a:path w="9882505" h="1322394">
                <a:moveTo>
                  <a:pt x="0" y="0"/>
                </a:moveTo>
                <a:lnTo>
                  <a:pt x="9882505" y="0"/>
                </a:lnTo>
                <a:lnTo>
                  <a:pt x="9882505" y="1322394"/>
                </a:lnTo>
                <a:lnTo>
                  <a:pt x="0" y="1322394"/>
                </a:lnTo>
                <a:close/>
              </a:path>
            </a:pathLst>
          </a:custGeom>
          <a:solidFill xmlns:a="http://schemas.openxmlformats.org/drawingml/2006/main">
            <a:srgbClr val="F2A40D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E5A598C-6E9C-ADAC-61C1-B3EB17C1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28" y="7112366"/>
            <a:ext cx="915082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/>
              <a:t>Add</a:t>
            </a:r>
            <a:r>
              <a:rPr sz="2800"/>
              <a:t> </a:t>
            </a:r>
            <a:r>
              <a:rPr sz="2800"/>
              <a:t>cloud</a:t>
            </a:r>
            <a:r>
              <a:rPr sz="2800"/>
              <a:t> </a:t>
            </a:r>
            <a:r>
              <a:rPr sz="2800"/>
              <a:t>backup</a:t>
            </a:r>
            <a:r>
              <a:rPr sz="2800"/>
              <a:t> </a:t>
            </a:r>
            <a:r>
              <a:rPr sz="2800"/>
              <a:t>and</a:t>
            </a:r>
            <a:r>
              <a:rPr sz="2800"/>
              <a:t> </a:t>
            </a:r>
            <a:r>
              <a:rPr sz="2800"/>
              <a:t>synchronization</a:t>
            </a:r>
            <a:r>
              <a:rPr sz="2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395865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5">
            <a:extLst xmlns:a="http://schemas.openxmlformats.org/drawingml/2006/main">
              <a:ext uri="{FF2B5EF4-FFF2-40B4-BE49-F238E27FC236}">
                <a16:creationId xmlns:a16="http://schemas.microsoft.com/office/drawing/2014/main" id="{CA1A9DF9-53CA-60BC-E1D1-E2BECFFC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0"/>
            <a:ext cx="18288000" cy="144018"/>
          </a:xfrm>
          <a:custGeom xmlns:a="http://schemas.openxmlformats.org/drawingml/2006/main">
            <a:rect l="l" t="t" r="r" b="b"/>
            <a:pathLst>
              <a:path w="24384000" h="192024">
                <a:moveTo>
                  <a:pt x="0" y="0"/>
                </a:moveTo>
                <a:lnTo>
                  <a:pt x="24384000" y="0"/>
                </a:lnTo>
                <a:lnTo>
                  <a:pt x="24384000" y="192024"/>
                </a:lnTo>
                <a:lnTo>
                  <a:pt x="0" y="192024"/>
                </a:ln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6390525-C058-4DFF-C24F-B6F5E99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257300"/>
            <a:ext cx="9150824" cy="120032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Conclusion</a:t>
            </a:r>
            <a:endParaRPr sz="7200"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A7F43B-6620-49C4-0275-90D7F29D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09900"/>
            <a:ext cx="12954000" cy="39703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285750" indent="-285750">
              <a:buFont typeface="Arial"/>
              <a:buChar char="•"/>
            </a:pPr>
            <a:r>
              <a:rPr sz="2800"/>
              <a:t>MiniNote</a:t>
            </a:r>
            <a:r>
              <a:rPr sz="2800"/>
              <a:t> </a:t>
            </a:r>
            <a:r>
              <a:rPr sz="2800"/>
              <a:t>is</a:t>
            </a:r>
            <a:r>
              <a:rPr sz="2800"/>
              <a:t> an </a:t>
            </a:r>
            <a:r>
              <a:rPr sz="2800"/>
              <a:t>Android</a:t>
            </a:r>
            <a:r>
              <a:rPr sz="2800"/>
              <a:t> </a:t>
            </a:r>
            <a:r>
              <a:rPr sz="2800"/>
              <a:t>application</a:t>
            </a:r>
            <a:r>
              <a:rPr sz="2800"/>
              <a:t> </a:t>
            </a:r>
            <a:r>
              <a:rPr sz="2800"/>
              <a:t>designed</a:t>
            </a:r>
            <a:r>
              <a:rPr sz="2800"/>
              <a:t> to </a:t>
            </a:r>
            <a:r>
              <a:rPr sz="2800"/>
              <a:t>support</a:t>
            </a:r>
            <a:r>
              <a:rPr sz="2800"/>
              <a:t> </a:t>
            </a:r>
            <a:r>
              <a:rPr sz="2800"/>
              <a:t>students</a:t>
            </a:r>
            <a:r>
              <a:rPr sz="2800"/>
              <a:t> in </a:t>
            </a:r>
            <a:r>
              <a:rPr sz="2800"/>
              <a:t>managing</a:t>
            </a:r>
            <a:r>
              <a:rPr sz="2800"/>
              <a:t> </a:t>
            </a:r>
            <a:r>
              <a:rPr sz="2800"/>
              <a:t>study</a:t>
            </a:r>
            <a:r>
              <a:rPr sz="2800"/>
              <a:t> </a:t>
            </a:r>
            <a:r>
              <a:rPr sz="2800"/>
              <a:t>notes</a:t>
            </a:r>
            <a:r>
              <a:rPr sz="2800"/>
              <a:t>, </a:t>
            </a:r>
            <a:r>
              <a:rPr sz="2800"/>
              <a:t>reviewing</a:t>
            </a:r>
            <a:r>
              <a:rPr sz="2800"/>
              <a:t> </a:t>
            </a:r>
            <a:r>
              <a:rPr sz="2800"/>
              <a:t>knowledge</a:t>
            </a:r>
            <a:r>
              <a:rPr sz="2800"/>
              <a:t> </a:t>
            </a:r>
            <a:r>
              <a:rPr sz="2800"/>
              <a:t>with</a:t>
            </a:r>
            <a:r>
              <a:rPr sz="2800"/>
              <a:t> </a:t>
            </a:r>
            <a:r>
              <a:rPr sz="2800"/>
              <a:t>flashcards</a:t>
            </a:r>
            <a:r>
              <a:rPr sz="2800"/>
              <a:t>, </a:t>
            </a:r>
            <a:r>
              <a:rPr sz="2800"/>
              <a:t>and</a:t>
            </a:r>
            <a:r>
              <a:rPr sz="2800"/>
              <a:t> </a:t>
            </a:r>
            <a:r>
              <a:rPr sz="2800"/>
              <a:t>improving</a:t>
            </a:r>
            <a:r>
              <a:rPr sz="2800"/>
              <a:t> </a:t>
            </a:r>
            <a:r>
              <a:rPr sz="2800"/>
              <a:t>concentration</a:t>
            </a:r>
            <a:r>
              <a:rPr sz="2800"/>
              <a:t> </a:t>
            </a:r>
            <a:r>
              <a:rPr sz="2800"/>
              <a:t>with</a:t>
            </a:r>
            <a:r>
              <a:rPr sz="2800"/>
              <a:t> the </a:t>
            </a:r>
            <a:r>
              <a:rPr sz="2800"/>
              <a:t>Pomodoro</a:t>
            </a:r>
            <a:r>
              <a:rPr sz="2800"/>
              <a:t> </a:t>
            </a:r>
            <a:r>
              <a:rPr sz="2800"/>
              <a:t>technique</a:t>
            </a:r>
            <a:r>
              <a:rPr sz="2800"/>
              <a:t>.</a:t>
            </a:r>
          </a:p>
          <a:p xmlns:a="http://schemas.openxmlformats.org/drawingml/2006/main">
            <a:endParaRPr sz="2800"/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800"/>
              <a:t>Through</a:t>
            </a:r>
            <a:r>
              <a:rPr sz="2800"/>
              <a:t> </a:t>
            </a:r>
            <a:r>
              <a:rPr sz="2800"/>
              <a:t>this</a:t>
            </a:r>
            <a:r>
              <a:rPr sz="2800"/>
              <a:t> </a:t>
            </a:r>
            <a:r>
              <a:rPr sz="2800"/>
              <a:t>project</a:t>
            </a:r>
            <a:r>
              <a:rPr sz="2800"/>
              <a:t>, I </a:t>
            </a:r>
            <a:r>
              <a:rPr sz="2800"/>
              <a:t>learned</a:t>
            </a:r>
            <a:r>
              <a:rPr sz="2800"/>
              <a:t> </a:t>
            </a:r>
            <a:r>
              <a:rPr sz="2800"/>
              <a:t>how</a:t>
            </a:r>
            <a:r>
              <a:rPr sz="2800"/>
              <a:t> to </a:t>
            </a:r>
            <a:r>
              <a:rPr sz="2800"/>
              <a:t>build</a:t>
            </a:r>
            <a:r>
              <a:rPr sz="2800"/>
              <a:t> an </a:t>
            </a:r>
            <a:r>
              <a:rPr sz="2800"/>
              <a:t>Android</a:t>
            </a:r>
            <a:r>
              <a:rPr sz="2800"/>
              <a:t> </a:t>
            </a:r>
            <a:r>
              <a:rPr sz="2800"/>
              <a:t>application</a:t>
            </a:r>
            <a:r>
              <a:rPr sz="2800"/>
              <a:t> </a:t>
            </a:r>
            <a:r>
              <a:rPr sz="2800"/>
              <a:t>using</a:t>
            </a:r>
            <a:r>
              <a:rPr sz="2800"/>
              <a:t> </a:t>
            </a:r>
            <a:r>
              <a:rPr sz="2800"/>
              <a:t>Kotlin</a:t>
            </a:r>
            <a:r>
              <a:rPr sz="2800"/>
              <a:t> </a:t>
            </a:r>
            <a:r>
              <a:rPr sz="2800"/>
              <a:t>and</a:t>
            </a:r>
            <a:r>
              <a:rPr sz="2800"/>
              <a:t> XML, </a:t>
            </a:r>
            <a:r>
              <a:rPr sz="2800"/>
              <a:t>connect</a:t>
            </a:r>
            <a:r>
              <a:rPr sz="2800"/>
              <a:t> </a:t>
            </a:r>
            <a:r>
              <a:rPr sz="2800"/>
              <a:t>it</a:t>
            </a:r>
            <a:r>
              <a:rPr sz="2800"/>
              <a:t> </a:t>
            </a:r>
            <a:r>
              <a:rPr sz="2800"/>
              <a:t>with</a:t>
            </a:r>
            <a:r>
              <a:rPr sz="2800"/>
              <a:t> PHP API </a:t>
            </a:r>
            <a:r>
              <a:rPr sz="2800"/>
              <a:t>through</a:t>
            </a:r>
            <a:r>
              <a:rPr sz="2800"/>
              <a:t> </a:t>
            </a:r>
            <a:r>
              <a:rPr sz="2800"/>
              <a:t>Retrofit</a:t>
            </a:r>
            <a:r>
              <a:rPr sz="2800"/>
              <a:t>, </a:t>
            </a:r>
            <a:r>
              <a:rPr sz="2800"/>
              <a:t>and</a:t>
            </a:r>
            <a:r>
              <a:rPr sz="2800"/>
              <a:t> </a:t>
            </a:r>
            <a:r>
              <a:rPr sz="2800"/>
              <a:t>store</a:t>
            </a:r>
            <a:r>
              <a:rPr sz="2800"/>
              <a:t> </a:t>
            </a:r>
            <a:r>
              <a:rPr sz="2800"/>
              <a:t>data</a:t>
            </a:r>
            <a:r>
              <a:rPr sz="2800"/>
              <a:t> in </a:t>
            </a:r>
            <a:r>
              <a:rPr sz="2800"/>
              <a:t>MySQL</a:t>
            </a:r>
            <a:r>
              <a:rPr sz="2800"/>
              <a:t>.</a:t>
            </a:r>
          </a:p>
          <a:p xmlns:a="http://schemas.openxmlformats.org/drawingml/2006/main">
            <a:endParaRPr sz="2800"/>
          </a:p>
          <a:p xmlns:a="http://schemas.openxmlformats.org/drawingml/2006/main">
            <a:pPr marL="285750" indent="-285750">
              <a:buFont typeface="Arial"/>
              <a:buChar char="•"/>
            </a:pPr>
            <a:r>
              <a:rPr sz="2800"/>
              <a:t>Although</a:t>
            </a:r>
            <a:r>
              <a:rPr sz="2800"/>
              <a:t> the </a:t>
            </a:r>
            <a:r>
              <a:rPr sz="2800"/>
              <a:t>application</a:t>
            </a:r>
            <a:r>
              <a:rPr sz="2800"/>
              <a:t> </a:t>
            </a:r>
            <a:r>
              <a:rPr sz="2800"/>
              <a:t>still</a:t>
            </a:r>
            <a:r>
              <a:rPr sz="2800"/>
              <a:t> </a:t>
            </a:r>
            <a:r>
              <a:rPr sz="2800"/>
              <a:t>has</a:t>
            </a:r>
            <a:r>
              <a:rPr sz="2800"/>
              <a:t> </a:t>
            </a:r>
            <a:r>
              <a:rPr sz="2800"/>
              <a:t>some</a:t>
            </a:r>
            <a:r>
              <a:rPr sz="2800"/>
              <a:t> </a:t>
            </a:r>
            <a:r>
              <a:rPr sz="2800"/>
              <a:t>limitations</a:t>
            </a:r>
            <a:r>
              <a:rPr sz="2800"/>
              <a:t>, </a:t>
            </a:r>
            <a:r>
              <a:rPr sz="2800"/>
              <a:t>it</a:t>
            </a:r>
            <a:r>
              <a:rPr sz="2800"/>
              <a:t> </a:t>
            </a:r>
            <a:r>
              <a:rPr sz="2800"/>
              <a:t>has</a:t>
            </a:r>
            <a:r>
              <a:rPr sz="2800"/>
              <a:t> </a:t>
            </a:r>
            <a:r>
              <a:rPr sz="2800"/>
              <a:t>completed</a:t>
            </a:r>
            <a:r>
              <a:rPr sz="2800"/>
              <a:t> the </a:t>
            </a:r>
            <a:r>
              <a:rPr sz="2800"/>
              <a:t>main</a:t>
            </a:r>
            <a:r>
              <a:rPr sz="2800"/>
              <a:t> </a:t>
            </a:r>
            <a:r>
              <a:rPr sz="2800"/>
              <a:t>goals</a:t>
            </a:r>
            <a:r>
              <a:rPr sz="2800"/>
              <a:t> </a:t>
            </a:r>
            <a:r>
              <a:rPr sz="2800"/>
              <a:t>of</a:t>
            </a:r>
            <a:r>
              <a:rPr sz="2800"/>
              <a:t> the </a:t>
            </a:r>
            <a:r>
              <a:rPr sz="2800"/>
              <a:t>project</a:t>
            </a:r>
            <a:r>
              <a:rPr sz="2800"/>
              <a:t> </a:t>
            </a:r>
            <a:r>
              <a:rPr sz="2800"/>
              <a:t>and</a:t>
            </a:r>
            <a:r>
              <a:rPr sz="2800"/>
              <a:t> can be </a:t>
            </a:r>
            <a:r>
              <a:rPr sz="2800"/>
              <a:t>further</a:t>
            </a:r>
            <a:r>
              <a:rPr sz="2800"/>
              <a:t> </a:t>
            </a:r>
            <a:r>
              <a:rPr sz="2800"/>
              <a:t>improved</a:t>
            </a:r>
            <a:r>
              <a:rPr sz="2800"/>
              <a:t> in the </a:t>
            </a:r>
            <a:r>
              <a:rPr sz="2800"/>
              <a:t>future</a:t>
            </a:r>
            <a:r>
              <a:rPr sz="28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56601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reeform 3">
            <a:extLst xmlns:a="http://schemas.openxmlformats.org/drawingml/2006/main">
              <a:ext uri="{FF2B5EF4-FFF2-40B4-BE49-F238E27FC236}">
                <a16:creationId xmlns:a16="http://schemas.microsoft.com/office/drawing/2014/main" id="{CC3C6E64-7410-4918-B6C8-A33EADD0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623720" y="1475284"/>
            <a:ext cx="5040629" cy="5040629"/>
          </a:xfrm>
          <a:custGeom xmlns:a="http://schemas.openxmlformats.org/drawingml/2006/main">
            <a:rect l="l" t="t" r="r" b="b"/>
            <a:pathLst>
              <a:path w="6720840" h="6720840">
                <a:moveTo>
                  <a:pt x="0" y="3360420"/>
                </a:moveTo>
                <a:cubicBezTo>
                  <a:pt x="0" y="1504442"/>
                  <a:pt x="1504442" y="0"/>
                  <a:pt x="3360420" y="0"/>
                </a:cubicBezTo>
                <a:cubicBezTo>
                  <a:pt x="5216398" y="0"/>
                  <a:pt x="6720840" y="1504442"/>
                  <a:pt x="6720840" y="3360420"/>
                </a:cubicBezTo>
                <a:cubicBezTo>
                  <a:pt x="6720840" y="5216398"/>
                  <a:pt x="5216398" y="6720840"/>
                  <a:pt x="3360420" y="6720840"/>
                </a:cubicBezTo>
                <a:cubicBezTo>
                  <a:pt x="1504442" y="6720840"/>
                  <a:pt x="0" y="5216271"/>
                  <a:pt x="0" y="3360420"/>
                </a:cubicBezTo>
                <a:close/>
              </a:path>
            </a:pathLst>
          </a:custGeom>
          <a:solidFill xmlns:a="http://schemas.openxmlformats.org/drawingml/2006/main">
            <a:srgbClr val="32AEB8"/>
          </a:solidFill>
          <a:ln xmlns:a="http://schemas.openxmlformats.org/drawingml/2006/main" w="12700">
            <a:solidFill>
              <a:srgbClr val="000000"/>
            </a:solidFill>
          </a:ln>
        </p:spPr>
      </p:sp>
      <p:sp>
        <p:nvSpPr>
          <p:cNvPr id="5" name="Freeform 5">
            <a:extLst xmlns:a="http://schemas.openxmlformats.org/drawingml/2006/main">
              <a:ext uri="{FF2B5EF4-FFF2-40B4-BE49-F238E27FC236}">
                <a16:creationId xmlns:a16="http://schemas.microsoft.com/office/drawing/2014/main" id="{2A5B0EC4-5590-4C8A-882C-9338408A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24702" y="2278422"/>
            <a:ext cx="1638585" cy="3636740"/>
          </a:xfrm>
          <a:custGeom xmlns:a="http://schemas.openxmlformats.org/drawingml/2006/main">
            <a:rect l="l" t="t" r="r" b="b"/>
            <a:pathLst>
              <a:path w="2184781" h="4848987">
                <a:moveTo>
                  <a:pt x="0" y="0"/>
                </a:moveTo>
                <a:lnTo>
                  <a:pt x="2184781" y="0"/>
                </a:lnTo>
                <a:lnTo>
                  <a:pt x="2184781" y="4848987"/>
                </a:lnTo>
                <a:lnTo>
                  <a:pt x="0" y="484898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>
            <a:blip xmlns:r="http://schemas.openxmlformats.org/officeDocument/2006/relationships" r:embed="Rbaa5396180b541a3"/>
            <a:stretch>
              <a:fillRect l="0" t="0" r="0" b="-176"/>
            </a:stretch>
          </a:blipFill>
        </p:spPr>
      </p:sp>
      <p:sp>
        <p:nvSpPr>
          <p:cNvPr id="7" name="Freeform 7">
            <a:extLst xmlns:a="http://schemas.openxmlformats.org/drawingml/2006/main">
              <a:ext uri="{FF2B5EF4-FFF2-40B4-BE49-F238E27FC236}">
                <a16:creationId xmlns:a16="http://schemas.microsoft.com/office/drawing/2014/main" id="{2ED4F142-F1C9-4AEF-8EB0-CE96C77E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122388"/>
            <a:ext cx="18288000" cy="1152126"/>
          </a:xfrm>
          <a:custGeom xmlns:a="http://schemas.openxmlformats.org/drawingml/2006/main">
            <a:rect l="l" t="t" r="r" b="b"/>
            <a:pathLst>
              <a:path w="24384000" h="1536168">
                <a:moveTo>
                  <a:pt x="0" y="0"/>
                </a:moveTo>
                <a:lnTo>
                  <a:pt x="24384000" y="0"/>
                </a:lnTo>
                <a:lnTo>
                  <a:pt x="24384000" y="1536168"/>
                </a:lnTo>
                <a:lnTo>
                  <a:pt x="0" y="1536168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</p:spPr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49A8795B-B205-45E0-9CAB-4228B8777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7100957"/>
            <a:ext cx="18288000" cy="11735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ts val="8640"/>
              </a:lnSpc>
              <a:buNone/>
            </a:pPr>
            <a:r>
              <a:rPr sz="7200">
                <a:solidFill>
                  <a:srgbClr val="40404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761419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2026-08-16T15:27:15.2900000Z</dcterms:created>
  <dcterms:modified xsi:type="dcterms:W3CDTF">2026-08-16T15:27:15.2900000Z</dcterms:modified>
</coreProperties>
</file>